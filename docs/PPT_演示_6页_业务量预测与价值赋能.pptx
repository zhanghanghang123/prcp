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20624"/>
            <a:ext cx="82296" cy="566928"/>
          </a:xfrm>
          <a:prstGeom prst="rect">
            <a:avLst/>
          </a:prstGeom>
          <a:solidFill>
            <a:srgbClr val="DF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326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1" i="0">
                <a:solidFill>
                  <a:srgbClr val="1B4593"/>
                </a:solidFill>
                <a:ea typeface="微软雅黑"/>
                <a:cs typeface="微软雅黑"/>
                <a:latin typeface="微软雅黑"/>
              </a:rPr>
              <a:t>行业现状与难题：三大挑战 · 四大攻坚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42415"/>
            <a:ext cx="11274552" cy="0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528048" y="493776"/>
            <a:ext cx="220370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EAA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19488" y="493776"/>
            <a:ext cx="20208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4593"/>
                </a:solidFill>
                <a:ea typeface="微软雅黑"/>
                <a:cs typeface="微软雅黑"/>
                <a:latin typeface="微软雅黑"/>
              </a:rPr>
              <a:t>项目背景 · 行业与同业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778495"/>
                </a:solidFill>
                <a:ea typeface="微软雅黑 Light"/>
                <a:cs typeface="微软雅黑 Light"/>
                <a:latin typeface="微软雅黑 Light"/>
              </a:rPr>
              <a:t>国内银行业资负预测仍处早期阶段，普遍面临业务覆盖 / 预测精度 / 多维平衡 / 成熟度 四道坎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32120" cy="1975104"/>
          </a:xfrm>
          <a:prstGeom prst="roundRect">
            <a:avLst>
              <a:gd name="adj" fmla="val 7000"/>
            </a:avLst>
          </a:prstGeom>
          <a:solidFill>
            <a:srgbClr val="E6F1FB"/>
          </a:solidFill>
          <a:ln w="12700">
            <a:solidFill>
              <a:srgbClr val="C6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532120" cy="68580"/>
          </a:xfrm>
          <a:prstGeom prst="rect">
            <a:avLst/>
          </a:prstGeom>
          <a:solidFill>
            <a:srgbClr val="0C2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810512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93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1051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ea typeface="Arial"/>
                <a:cs typeface="Arial"/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810512"/>
            <a:ext cx="24688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0C2864"/>
                </a:solidFill>
                <a:ea typeface="微软雅黑"/>
                <a:cs typeface="微软雅黑"/>
                <a:latin typeface="微软雅黑"/>
              </a:rPr>
              <a:t>覆盖难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810512"/>
            <a:ext cx="1965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B4593"/>
                </a:solidFill>
                <a:ea typeface="微软雅黑 Light"/>
                <a:cs typeface="微软雅黑 Light"/>
                <a:latin typeface="微软雅黑 Light"/>
              </a:rPr>
              <a:t>全业务品种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77440"/>
            <a:ext cx="4983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表内 + 表外全业务口径下，数百业务品种需逐一建模覆盖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2907791"/>
            <a:ext cx="4983480" cy="0"/>
          </a:xfrm>
          <a:prstGeom prst="line">
            <a:avLst/>
          </a:prstGeom>
          <a:ln w="12700">
            <a:solidFill>
              <a:srgbClr val="C9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2980944"/>
            <a:ext cx="4983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C2864"/>
                </a:solidFill>
                <a:ea typeface="微软雅黑"/>
                <a:cs typeface="微软雅黑"/>
                <a:latin typeface="微软雅黑"/>
              </a:rPr>
              <a:t>→  全口径账户册 · 统一业务口径定义 · 完整建模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554480"/>
            <a:ext cx="5532120" cy="1975104"/>
          </a:xfrm>
          <a:prstGeom prst="roundRect">
            <a:avLst>
              <a:gd name="adj" fmla="val 7000"/>
            </a:avLst>
          </a:prstGeom>
          <a:solidFill>
            <a:srgbClr val="E6F1FB"/>
          </a:solidFill>
          <a:ln w="12700">
            <a:solidFill>
              <a:srgbClr val="C6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554480"/>
            <a:ext cx="5532120" cy="68580"/>
          </a:xfrm>
          <a:prstGeom prst="rect">
            <a:avLst/>
          </a:prstGeom>
          <a:solidFill>
            <a:srgbClr val="0C2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73952" y="1810512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93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181051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ea typeface="Arial"/>
                <a:cs typeface="Arial"/>
                <a:latin typeface="Arial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2592" y="1810512"/>
            <a:ext cx="24688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0C2864"/>
                </a:solidFill>
                <a:ea typeface="微软雅黑"/>
                <a:cs typeface="微软雅黑"/>
                <a:latin typeface="微软雅黑"/>
              </a:rPr>
              <a:t>预测难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1472" y="1810512"/>
            <a:ext cx="1965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B4593"/>
                </a:solidFill>
                <a:ea typeface="微软雅黑 Light"/>
                <a:cs typeface="微软雅黑 Light"/>
                <a:latin typeface="微软雅黑 Light"/>
              </a:rPr>
              <a:t>3~5 年长周期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2377440"/>
            <a:ext cx="4983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长周期、多情景叠加下，量化精度易受宏观变量扰动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73952" y="2907791"/>
            <a:ext cx="4983480" cy="0"/>
          </a:xfrm>
          <a:prstGeom prst="line">
            <a:avLst/>
          </a:prstGeom>
          <a:ln w="12700">
            <a:solidFill>
              <a:srgbClr val="C9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73952" y="2980944"/>
            <a:ext cx="4983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C2864"/>
                </a:solidFill>
                <a:ea typeface="微软雅黑"/>
                <a:cs typeface="微软雅黑"/>
                <a:latin typeface="微软雅黑"/>
              </a:rPr>
              <a:t>→  滚动动态推演 + 多算法融合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712464"/>
            <a:ext cx="5532120" cy="1975104"/>
          </a:xfrm>
          <a:prstGeom prst="roundRect">
            <a:avLst>
              <a:gd name="adj" fmla="val 7000"/>
            </a:avLst>
          </a:prstGeom>
          <a:solidFill>
            <a:srgbClr val="E6F1FB"/>
          </a:solidFill>
          <a:ln w="12700">
            <a:solidFill>
              <a:srgbClr val="C6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712464"/>
            <a:ext cx="5532120" cy="68580"/>
          </a:xfrm>
          <a:prstGeom prst="rect">
            <a:avLst/>
          </a:prstGeom>
          <a:solidFill>
            <a:srgbClr val="0C2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1520" y="3968496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93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9684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ea typeface="Arial"/>
                <a:cs typeface="Arial"/>
                <a:latin typeface="Arial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3968496"/>
            <a:ext cx="24688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0C2864"/>
                </a:solidFill>
                <a:ea typeface="微软雅黑"/>
                <a:cs typeface="微软雅黑"/>
                <a:latin typeface="微软雅黑"/>
              </a:rPr>
              <a:t>平衡难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3968496"/>
            <a:ext cx="1965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B4593"/>
                </a:solidFill>
                <a:ea typeface="微软雅黑 Light"/>
                <a:cs typeface="微软雅黑 Light"/>
                <a:latin typeface="微软雅黑 Light"/>
              </a:rPr>
              <a:t>多目标平衡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535424"/>
            <a:ext cx="4983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兼顾盈利性、流动性、安全性与政策性，多目标平衡、重重约束下求解难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1520" y="5065776"/>
            <a:ext cx="4983480" cy="0"/>
          </a:xfrm>
          <a:prstGeom prst="line">
            <a:avLst/>
          </a:prstGeom>
          <a:ln w="12700">
            <a:solidFill>
              <a:srgbClr val="C9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1520" y="5138928"/>
            <a:ext cx="4983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C2864"/>
                </a:solidFill>
                <a:ea typeface="微软雅黑"/>
                <a:cs typeface="微软雅黑"/>
                <a:latin typeface="微软雅黑"/>
              </a:rPr>
              <a:t>→  神经网络奖励塑形 · 多目标最优摆布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9632" y="3712464"/>
            <a:ext cx="5532120" cy="1975104"/>
          </a:xfrm>
          <a:prstGeom prst="roundRect">
            <a:avLst>
              <a:gd name="adj" fmla="val 7000"/>
            </a:avLst>
          </a:prstGeom>
          <a:solidFill>
            <a:srgbClr val="FCEBEB"/>
          </a:solidFill>
          <a:ln w="12700">
            <a:solidFill>
              <a:srgbClr val="F0C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9632" y="3712464"/>
            <a:ext cx="5532120" cy="68580"/>
          </a:xfrm>
          <a:prstGeom prst="rect">
            <a:avLst/>
          </a:prstGeom>
          <a:solidFill>
            <a:srgbClr val="DF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73952" y="3968496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02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3952" y="39684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ea typeface="Arial"/>
                <a:cs typeface="Arial"/>
                <a:latin typeface="Arial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22592" y="3968496"/>
            <a:ext cx="24688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0C2864"/>
                </a:solidFill>
                <a:ea typeface="微软雅黑"/>
                <a:cs typeface="微软雅黑"/>
                <a:latin typeface="微软雅黑"/>
              </a:rPr>
              <a:t>成熟难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91472" y="3968496"/>
            <a:ext cx="1965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DF203C"/>
                </a:solidFill>
                <a:ea typeface="微软雅黑 Light"/>
                <a:cs typeface="微软雅黑 Light"/>
                <a:latin typeface="微软雅黑 Light"/>
              </a:rPr>
              <a:t>早期探索阶段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3952" y="4535424"/>
            <a:ext cx="4983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国内银行均处于早期局部探索阶段，尚未形成稳定成熟的系统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473952" y="5065776"/>
            <a:ext cx="4983480" cy="0"/>
          </a:xfrm>
          <a:prstGeom prst="line">
            <a:avLst/>
          </a:prstGeom>
          <a:ln w="12700">
            <a:solidFill>
              <a:srgbClr val="F0C8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73952" y="5138928"/>
            <a:ext cx="4983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C2864"/>
                </a:solidFill>
                <a:ea typeface="微软雅黑"/>
                <a:cs typeface="微软雅黑"/>
                <a:latin typeface="微软雅黑"/>
              </a:rPr>
              <a:t>→  深度强化学习 · 模型持续进化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687568"/>
            <a:ext cx="11274552" cy="493776"/>
          </a:xfrm>
          <a:prstGeom prst="roundRect">
            <a:avLst>
              <a:gd name="adj" fmla="val 14000"/>
            </a:avLst>
          </a:prstGeom>
          <a:solidFill>
            <a:srgbClr val="0C2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687568"/>
            <a:ext cx="1081735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ea typeface="微软雅黑"/>
                <a:cs typeface="微软雅黑"/>
                <a:latin typeface="微软雅黑"/>
              </a:rPr>
              <a:t>四大攻坚挑战 = 慧策组合平台的核心建设方向：口径覆盖全、推演周期长、目标约束多、迭代可持续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217920"/>
            <a:ext cx="112745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778495"/>
                </a:solidFill>
                <a:ea typeface="微软雅黑 Light"/>
                <a:cs typeface="微软雅黑 Light"/>
                <a:latin typeface="微软雅黑 Light"/>
              </a:rPr>
              <a:t>数据来源：国内银行业资负管理实践调研 · 中信银行内部业务诊断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57200" y="6455664"/>
            <a:ext cx="11274552" cy="0"/>
          </a:xfrm>
          <a:prstGeom prst="line">
            <a:avLst/>
          </a:prstGeom>
          <a:ln w="952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57200" y="651052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B4593"/>
                </a:solidFill>
                <a:ea typeface="微软雅黑"/>
                <a:cs typeface="微软雅黑"/>
                <a:latin typeface="微软雅黑"/>
              </a:rPr>
              <a:t>中信银行  CITIC BANK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23360" y="651052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778495"/>
                </a:solidFill>
                <a:ea typeface="微软雅黑 Light"/>
                <a:cs typeface="微软雅黑 Light"/>
                <a:latin typeface="微软雅黑 Light"/>
              </a:rPr>
              <a:t>背景 · 行业现状与挑战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75520" y="6510528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 i="0">
                <a:solidFill>
                  <a:srgbClr val="1B4593"/>
                </a:solidFill>
                <a:ea typeface="Arial"/>
                <a:cs typeface="Arial"/>
                <a:latin typeface="Arial"/>
              </a:rPr>
              <a:t>P 001 / 006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20624"/>
            <a:ext cx="82296" cy="566928"/>
          </a:xfrm>
          <a:prstGeom prst="rect">
            <a:avLst/>
          </a:prstGeom>
          <a:solidFill>
            <a:srgbClr val="DF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326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1" i="0">
                <a:solidFill>
                  <a:srgbClr val="1B4593"/>
                </a:solidFill>
                <a:ea typeface="微软雅黑"/>
                <a:cs typeface="微软雅黑"/>
                <a:latin typeface="微软雅黑"/>
              </a:rPr>
              <a:t>同业调研对标：领先实践一览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42415"/>
            <a:ext cx="11274552" cy="0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528048" y="493776"/>
            <a:ext cx="2203704" cy="420624"/>
          </a:xfrm>
          <a:prstGeom prst="roundRect">
            <a:avLst>
              <a:gd name="adj" fmla="val 50000"/>
            </a:avLst>
          </a:prstGeom>
          <a:solidFill>
            <a:srgbClr val="FFF3D2"/>
          </a:solidFill>
          <a:ln w="15875">
            <a:solidFill>
              <a:srgbClr val="CBA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19488" y="493776"/>
            <a:ext cx="20208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A87C1E"/>
                </a:solidFill>
                <a:ea typeface="微软雅黑"/>
                <a:cs typeface="微软雅黑"/>
                <a:latin typeface="微软雅黑"/>
              </a:rPr>
              <a:t>项目背景 · 同业对标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778495"/>
                </a:solidFill>
                <a:ea typeface="微软雅黑 Light"/>
                <a:cs typeface="微软雅黑 Light"/>
                <a:latin typeface="微软雅黑 Light"/>
              </a:rPr>
              <a:t>5 家领先机构（2 海外 + 3 国内）的资负预测实践调研，揭示行业基线与本行差距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11274552" cy="457200"/>
          </a:xfrm>
          <a:prstGeom prst="rect">
            <a:avLst/>
          </a:prstGeom>
          <a:solidFill>
            <a:srgbClr val="0C2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554480"/>
            <a:ext cx="143560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ea typeface="微软雅黑"/>
                <a:cs typeface="微软雅黑"/>
                <a:latin typeface="微软雅黑"/>
              </a:rPr>
              <a:t>银行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6856" y="1554480"/>
            <a:ext cx="189280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ea typeface="微软雅黑"/>
                <a:cs typeface="微软雅黑"/>
                <a:latin typeface="微软雅黑"/>
              </a:rPr>
              <a:t>实践重点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5696" y="1554480"/>
            <a:ext cx="37216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ea typeface="微软雅黑"/>
                <a:cs typeface="微软雅黑"/>
                <a:latin typeface="微软雅黑"/>
              </a:rPr>
              <a:t>核心能力特征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3336" y="155448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ea typeface="微软雅黑"/>
                <a:cs typeface="微软雅黑"/>
                <a:latin typeface="微软雅黑"/>
              </a:rPr>
              <a:t>对本行的启示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11680"/>
            <a:ext cx="11274552" cy="7168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011680"/>
            <a:ext cx="1399032" cy="7168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工商银行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011680"/>
            <a:ext cx="1892808" cy="7168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单目标、线性规划求解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2011680"/>
            <a:ext cx="3721607" cy="7168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决策变量多：15 个（10 资产 + 5 负债）；约束多：14 项（7 总行 + 7 分行）；单一目标函数（MaxPV）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2011680"/>
            <a:ext cx="3200400" cy="7168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决策变量支持更丰富，但目标函数应保持简单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2728569"/>
            <a:ext cx="11274552" cy="0"/>
          </a:xfrm>
          <a:prstGeom prst="line">
            <a:avLst/>
          </a:prstGeom>
          <a:ln w="9525">
            <a:solidFill>
              <a:srgbClr val="D8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57200" y="2728569"/>
            <a:ext cx="11274552" cy="71688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2728569"/>
            <a:ext cx="1399032" cy="7168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招商银行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76856" y="2728569"/>
            <a:ext cx="1892808" cy="7168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专家经验为主动态 ALM 测算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6" y="2728569"/>
            <a:ext cx="3721607" cy="7168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从宏观经济周期出发的专家经验判断 + 传统 ALM 动态情景测算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2728569"/>
            <a:ext cx="3200400" cy="7168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重视宏观经济周期对资负预测的传导与扰动，引入 ESG，并在各种经济情景下开展训练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3445459"/>
            <a:ext cx="11274552" cy="0"/>
          </a:xfrm>
          <a:prstGeom prst="line">
            <a:avLst/>
          </a:prstGeom>
          <a:ln w="9525">
            <a:solidFill>
              <a:srgbClr val="D8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57200" y="3445459"/>
            <a:ext cx="11274552" cy="7168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3445459"/>
            <a:ext cx="1399032" cy="7168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JPMorgan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76856" y="3445459"/>
            <a:ext cx="1892808" cy="7168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遵守监管规范的动态 ALM 测算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5696" y="3445459"/>
            <a:ext cx="3721607" cy="7168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基于美联储 SR 11-7 模型风险管理标准，将宏观经济场景工厂（ESG）与客户行为期权（提前还款 / 存款流失）深度绑定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3336" y="3445459"/>
            <a:ext cx="3200400" cy="7168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开发独立的模型风险管理（MRM），确保资负决策符合合规与审计要求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4162348"/>
            <a:ext cx="11274552" cy="0"/>
          </a:xfrm>
          <a:prstGeom prst="line">
            <a:avLst/>
          </a:prstGeom>
          <a:ln w="9525">
            <a:solidFill>
              <a:srgbClr val="D8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57200" y="4162348"/>
            <a:ext cx="11274552" cy="71688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4162348"/>
            <a:ext cx="1399032" cy="7168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Swiss Kantonalbank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76856" y="4162348"/>
            <a:ext cx="1892808" cy="7168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Deep ALM，基于深度强化学习的最优资负摆布策略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25696" y="4162348"/>
            <a:ext cx="3721607" cy="7168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面对长期负利率 / 低利率环境，引入深度强化学习（Deep Hedging / ALM）取代传统静态策略，在 6 大监管约束下做资负策略优化摆布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3336" y="4162348"/>
            <a:ext cx="3200400" cy="7168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证明深度强化学习在资负策略优化摆布中具备实战可行性，可带来显著的年均超额 ROE 溢价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7200" y="4879238"/>
            <a:ext cx="11274552" cy="0"/>
          </a:xfrm>
          <a:prstGeom prst="line">
            <a:avLst/>
          </a:prstGeom>
          <a:ln w="9525">
            <a:solidFill>
              <a:srgbClr val="D8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457200" y="4879238"/>
            <a:ext cx="11274552" cy="716889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4879238"/>
            <a:ext cx="1399032" cy="7168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>
                <a:solidFill>
                  <a:srgbClr val="0C2864"/>
                </a:solidFill>
                <a:ea typeface="微软雅黑"/>
                <a:cs typeface="微软雅黑"/>
                <a:latin typeface="微软雅黑"/>
              </a:rPr>
              <a:t>中信银行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76856" y="4879238"/>
            <a:ext cx="1892808" cy="7168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DeepALM + ESG + MRM + 丰富决策变量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25696" y="4879238"/>
            <a:ext cx="3721607" cy="7168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基于深度强化学习的可进化神经网络、基于 ESG 的宏观经济周期范式支撑能力、基于独立的 MRM 模块确保 AI 模型决策符合监管与审计要求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03336" y="4879238"/>
            <a:ext cx="3200400" cy="7168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本行基线：以自身实践为起点，对标海外先进经验补齐 ESG、MRM 与决策变量三项能力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7200" y="5596128"/>
            <a:ext cx="11274552" cy="0"/>
          </a:xfrm>
          <a:prstGeom prst="line">
            <a:avLst/>
          </a:prstGeom>
          <a:ln w="9525">
            <a:solidFill>
              <a:srgbClr val="D8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200" y="2011680"/>
            <a:ext cx="0" cy="3584448"/>
          </a:xfrm>
          <a:prstGeom prst="line">
            <a:avLst/>
          </a:prstGeom>
          <a:ln w="9525">
            <a:solidFill>
              <a:srgbClr val="E9EE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148840" y="2011680"/>
            <a:ext cx="0" cy="3584448"/>
          </a:xfrm>
          <a:prstGeom prst="line">
            <a:avLst/>
          </a:prstGeom>
          <a:ln w="9525">
            <a:solidFill>
              <a:srgbClr val="E9EE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97680" y="2011680"/>
            <a:ext cx="0" cy="3584448"/>
          </a:xfrm>
          <a:prstGeom prst="line">
            <a:avLst/>
          </a:prstGeom>
          <a:ln w="9525">
            <a:solidFill>
              <a:srgbClr val="E9EE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275320" y="2011680"/>
            <a:ext cx="0" cy="3584448"/>
          </a:xfrm>
          <a:prstGeom prst="line">
            <a:avLst/>
          </a:prstGeom>
          <a:ln w="9525">
            <a:solidFill>
              <a:srgbClr val="E9EE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731752" y="2011680"/>
            <a:ext cx="0" cy="3584448"/>
          </a:xfrm>
          <a:prstGeom prst="line">
            <a:avLst/>
          </a:prstGeom>
          <a:ln w="9525">
            <a:solidFill>
              <a:srgbClr val="E9EE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457200" y="5687568"/>
            <a:ext cx="11274552" cy="493776"/>
          </a:xfrm>
          <a:prstGeom prst="roundRect">
            <a:avLst>
              <a:gd name="adj" fmla="val 14000"/>
            </a:avLst>
          </a:prstGeom>
          <a:solidFill>
            <a:srgbClr val="0C2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5687568"/>
            <a:ext cx="1081735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ea typeface="微软雅黑"/>
                <a:cs typeface="微软雅黑"/>
                <a:latin typeface="微软雅黑"/>
              </a:rPr>
              <a:t>海外领先实践 = 可行性背书 · 国内同业基线 = 落地路径 —— 慧策组合平台的对标坐标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217920"/>
            <a:ext cx="112745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778495"/>
                </a:solidFill>
                <a:ea typeface="微软雅黑 Light"/>
                <a:cs typeface="微软雅黑 Light"/>
                <a:latin typeface="微软雅黑 Light"/>
              </a:rPr>
              <a:t>数据来源：各行年报与公开披露 · 监管制度文件 · 中信银行同业调研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57200" y="6455664"/>
            <a:ext cx="11274552" cy="0"/>
          </a:xfrm>
          <a:prstGeom prst="line">
            <a:avLst/>
          </a:prstGeom>
          <a:ln w="952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57200" y="651052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B4593"/>
                </a:solidFill>
                <a:ea typeface="微软雅黑"/>
                <a:cs typeface="微软雅黑"/>
                <a:latin typeface="微软雅黑"/>
              </a:rPr>
              <a:t>中信银行  CITIC BANK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23360" y="651052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778495"/>
                </a:solidFill>
                <a:ea typeface="微软雅黑 Light"/>
                <a:cs typeface="微软雅黑 Light"/>
                <a:latin typeface="微软雅黑 Light"/>
              </a:rPr>
              <a:t>背景 · 同业对标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75520" y="6510528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 i="0">
                <a:solidFill>
                  <a:srgbClr val="1B4593"/>
                </a:solidFill>
                <a:ea typeface="Arial"/>
                <a:cs typeface="Arial"/>
                <a:latin typeface="Arial"/>
              </a:rPr>
              <a:t>P 002 / 006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20624"/>
            <a:ext cx="82296" cy="566928"/>
          </a:xfrm>
          <a:prstGeom prst="rect">
            <a:avLst/>
          </a:prstGeom>
          <a:solidFill>
            <a:srgbClr val="DF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326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1" i="0">
                <a:solidFill>
                  <a:srgbClr val="1B4593"/>
                </a:solidFill>
                <a:ea typeface="微软雅黑"/>
                <a:cs typeface="微软雅黑"/>
                <a:latin typeface="微软雅黑"/>
              </a:rPr>
              <a:t>商业银行未来业务量预测解决方案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42415"/>
            <a:ext cx="11274552" cy="0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528048" y="493776"/>
            <a:ext cx="220370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EAA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19488" y="493776"/>
            <a:ext cx="20208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4593"/>
                </a:solidFill>
                <a:ea typeface="微软雅黑"/>
                <a:cs typeface="微软雅黑"/>
                <a:latin typeface="微软雅黑"/>
              </a:rPr>
              <a:t>从经验估算走向模型驱动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778495"/>
                </a:solidFill>
                <a:ea typeface="微软雅黑 Light"/>
                <a:cs typeface="微软雅黑 Light"/>
                <a:latin typeface="微软雅黑 Light"/>
              </a:rPr>
              <a:t>从静态预设公式走向 AI 模型预测，构建“数据-预测-分析-价值”数智经营闭环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2612440" cy="4041648"/>
          </a:xfrm>
          <a:prstGeom prst="roundRect">
            <a:avLst>
              <a:gd name="adj" fmla="val 5500"/>
            </a:avLst>
          </a:prstGeom>
          <a:solidFill>
            <a:srgbClr val="EBEFF2"/>
          </a:solidFill>
          <a:ln w="15875">
            <a:solidFill>
              <a:srgbClr val="C4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6423" y="1942185"/>
            <a:ext cx="593994" cy="491581"/>
          </a:xfrm>
          <a:prstGeom prst="roundRect">
            <a:avLst>
              <a:gd name="adj" fmla="val 12000"/>
            </a:avLst>
          </a:prstGeom>
          <a:solidFill>
            <a:srgbClr val="E7F0F9"/>
          </a:solidFill>
          <a:ln w="17780">
            <a:solidFill>
              <a:srgbClr val="1E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66423" y="1819290"/>
            <a:ext cx="593994" cy="194584"/>
          </a:xfrm>
          <a:prstGeom prst="ellipse">
            <a:avLst/>
          </a:prstGeom>
          <a:solidFill>
            <a:srgbClr val="D6E5F3"/>
          </a:solidFill>
          <a:ln w="17780">
            <a:solidFill>
              <a:srgbClr val="1E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66423" y="2045622"/>
            <a:ext cx="593994" cy="120642"/>
          </a:xfrm>
          <a:prstGeom prst="ellipse">
            <a:avLst/>
          </a:prstGeom>
          <a:solidFill>
            <a:srgbClr val="C2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66423" y="2209483"/>
            <a:ext cx="593994" cy="120642"/>
          </a:xfrm>
          <a:prstGeom prst="ellipse">
            <a:avLst/>
          </a:prstGeom>
          <a:solidFill>
            <a:srgbClr val="C2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20042" y="1988271"/>
            <a:ext cx="56327" cy="26627"/>
          </a:xfrm>
          <a:prstGeom prst="roundRect">
            <a:avLst>
              <a:gd name="adj" fmla="val 50000"/>
            </a:avLst>
          </a:prstGeom>
          <a:solidFill>
            <a:srgbClr val="5B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22455" y="1988271"/>
            <a:ext cx="56327" cy="26627"/>
          </a:xfrm>
          <a:prstGeom prst="roundRect">
            <a:avLst>
              <a:gd name="adj" fmla="val 50000"/>
            </a:avLst>
          </a:prstGeom>
          <a:solidFill>
            <a:srgbClr val="5B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865833" y="1988271"/>
            <a:ext cx="56327" cy="26627"/>
          </a:xfrm>
          <a:prstGeom prst="roundRect">
            <a:avLst>
              <a:gd name="adj" fmla="val 50000"/>
            </a:avLst>
          </a:prstGeom>
          <a:solidFill>
            <a:srgbClr val="5B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589318" y="2157252"/>
            <a:ext cx="56327" cy="26627"/>
          </a:xfrm>
          <a:prstGeom prst="roundRect">
            <a:avLst>
              <a:gd name="adj" fmla="val 50000"/>
            </a:avLst>
          </a:prstGeom>
          <a:solidFill>
            <a:srgbClr val="5B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94144" y="2157252"/>
            <a:ext cx="56327" cy="26627"/>
          </a:xfrm>
          <a:prstGeom prst="roundRect">
            <a:avLst>
              <a:gd name="adj" fmla="val 50000"/>
            </a:avLst>
          </a:prstGeom>
          <a:solidFill>
            <a:srgbClr val="5B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61007" y="2346716"/>
            <a:ext cx="56327" cy="26627"/>
          </a:xfrm>
          <a:prstGeom prst="roundRect">
            <a:avLst>
              <a:gd name="adj" fmla="val 50000"/>
            </a:avLst>
          </a:prstGeom>
          <a:solidFill>
            <a:srgbClr val="5B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835109" y="2346716"/>
            <a:ext cx="56327" cy="26627"/>
          </a:xfrm>
          <a:prstGeom prst="roundRect">
            <a:avLst>
              <a:gd name="adj" fmla="val 50000"/>
            </a:avLst>
          </a:prstGeom>
          <a:solidFill>
            <a:srgbClr val="5B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927280" y="2346716"/>
            <a:ext cx="56327" cy="26627"/>
          </a:xfrm>
          <a:prstGeom prst="roundRect">
            <a:avLst>
              <a:gd name="adj" fmla="val 50000"/>
            </a:avLst>
          </a:prstGeom>
          <a:solidFill>
            <a:srgbClr val="5B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248796" y="2246146"/>
            <a:ext cx="220187" cy="325878"/>
          </a:xfrm>
          <a:custGeom>
            <a:avLst/>
            <a:gdLst/>
            <a:ahLst/>
            <a:cxnLst/>
            <a:rect l="l" t="t" r="r" b="b"/>
            <a:pathLst>
              <a:path w="220187" h="325878">
                <a:moveTo>
                  <a:pt x="0" y="105690"/>
                </a:moveTo>
                <a:lnTo>
                  <a:pt x="110093" y="0"/>
                </a:lnTo>
                <a:lnTo>
                  <a:pt x="220187" y="105690"/>
                </a:lnTo>
                <a:lnTo>
                  <a:pt x="220187" y="220188"/>
                </a:lnTo>
                <a:lnTo>
                  <a:pt x="110093" y="325878"/>
                </a:lnTo>
                <a:lnTo>
                  <a:pt x="0" y="220188"/>
                </a:lnTo>
                <a:close/>
              </a:path>
            </a:pathLst>
          </a:custGeom>
          <a:solidFill>
            <a:srgbClr val="2E5F92"/>
          </a:solidFill>
          <a:ln w="13970">
            <a:solidFill>
              <a:srgbClr val="1E3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248796" y="2246146"/>
            <a:ext cx="220187" cy="211380"/>
          </a:xfrm>
          <a:custGeom>
            <a:avLst/>
            <a:gdLst/>
            <a:ahLst/>
            <a:cxnLst/>
            <a:rect l="l" t="t" r="r" b="b"/>
            <a:pathLst>
              <a:path w="220187" h="211380">
                <a:moveTo>
                  <a:pt x="110093" y="0"/>
                </a:moveTo>
                <a:lnTo>
                  <a:pt x="220187" y="105690"/>
                </a:lnTo>
                <a:lnTo>
                  <a:pt x="110093" y="211380"/>
                </a:lnTo>
                <a:lnTo>
                  <a:pt x="0" y="105690"/>
                </a:lnTo>
                <a:close/>
              </a:path>
            </a:pathLst>
          </a:custGeom>
          <a:solidFill>
            <a:srgbClr val="A9C9E8"/>
          </a:solidFill>
          <a:ln w="13970">
            <a:solidFill>
              <a:srgbClr val="1E3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1358889" y="2351836"/>
            <a:ext cx="110094" cy="220188"/>
          </a:xfrm>
          <a:custGeom>
            <a:avLst/>
            <a:gdLst/>
            <a:ahLst/>
            <a:cxnLst/>
            <a:rect l="l" t="t" r="r" b="b"/>
            <a:pathLst>
              <a:path w="110094" h="220188">
                <a:moveTo>
                  <a:pt x="0" y="105690"/>
                </a:moveTo>
                <a:lnTo>
                  <a:pt x="110094" y="0"/>
                </a:lnTo>
                <a:lnTo>
                  <a:pt x="110094" y="114498"/>
                </a:lnTo>
                <a:lnTo>
                  <a:pt x="0" y="220188"/>
                </a:lnTo>
                <a:close/>
              </a:path>
            </a:pathLst>
          </a:custGeom>
          <a:solidFill>
            <a:srgbClr val="214874"/>
          </a:solidFill>
          <a:ln w="13970">
            <a:solidFill>
              <a:srgbClr val="1E3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2057857" y="2246146"/>
            <a:ext cx="220187" cy="325878"/>
          </a:xfrm>
          <a:custGeom>
            <a:avLst/>
            <a:gdLst/>
            <a:ahLst/>
            <a:cxnLst/>
            <a:rect l="l" t="t" r="r" b="b"/>
            <a:pathLst>
              <a:path w="220187" h="325878">
                <a:moveTo>
                  <a:pt x="0" y="105690"/>
                </a:moveTo>
                <a:lnTo>
                  <a:pt x="110093" y="0"/>
                </a:lnTo>
                <a:lnTo>
                  <a:pt x="220187" y="105690"/>
                </a:lnTo>
                <a:lnTo>
                  <a:pt x="220187" y="220188"/>
                </a:lnTo>
                <a:lnTo>
                  <a:pt x="110093" y="325878"/>
                </a:lnTo>
                <a:lnTo>
                  <a:pt x="0" y="220188"/>
                </a:lnTo>
                <a:close/>
              </a:path>
            </a:pathLst>
          </a:custGeom>
          <a:solidFill>
            <a:srgbClr val="2E5F92"/>
          </a:solidFill>
          <a:ln w="13970">
            <a:solidFill>
              <a:srgbClr val="1E3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2057857" y="2246146"/>
            <a:ext cx="220187" cy="211380"/>
          </a:xfrm>
          <a:custGeom>
            <a:avLst/>
            <a:gdLst/>
            <a:ahLst/>
            <a:cxnLst/>
            <a:rect l="l" t="t" r="r" b="b"/>
            <a:pathLst>
              <a:path w="220187" h="211380">
                <a:moveTo>
                  <a:pt x="110093" y="0"/>
                </a:moveTo>
                <a:lnTo>
                  <a:pt x="220187" y="105690"/>
                </a:lnTo>
                <a:lnTo>
                  <a:pt x="110093" y="211380"/>
                </a:lnTo>
                <a:lnTo>
                  <a:pt x="0" y="105690"/>
                </a:lnTo>
                <a:close/>
              </a:path>
            </a:pathLst>
          </a:custGeom>
          <a:solidFill>
            <a:srgbClr val="A9C9E8"/>
          </a:solidFill>
          <a:ln w="13970">
            <a:solidFill>
              <a:srgbClr val="1E3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2167950" y="2351836"/>
            <a:ext cx="110094" cy="220188"/>
          </a:xfrm>
          <a:custGeom>
            <a:avLst/>
            <a:gdLst/>
            <a:ahLst/>
            <a:cxnLst/>
            <a:rect l="l" t="t" r="r" b="b"/>
            <a:pathLst>
              <a:path w="110094" h="220188">
                <a:moveTo>
                  <a:pt x="0" y="105690"/>
                </a:moveTo>
                <a:lnTo>
                  <a:pt x="110094" y="0"/>
                </a:lnTo>
                <a:lnTo>
                  <a:pt x="110094" y="114498"/>
                </a:lnTo>
                <a:lnTo>
                  <a:pt x="0" y="220188"/>
                </a:lnTo>
                <a:close/>
              </a:path>
            </a:pathLst>
          </a:custGeom>
          <a:solidFill>
            <a:srgbClr val="214874"/>
          </a:solidFill>
          <a:ln w="13970">
            <a:solidFill>
              <a:srgbClr val="1E3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1302562" y="2126528"/>
            <a:ext cx="163861" cy="102413"/>
          </a:xfrm>
          <a:prstGeom prst="line">
            <a:avLst/>
          </a:prstGeom>
          <a:ln w="13970">
            <a:solidFill>
              <a:srgbClr val="1E3E6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02562" y="1952426"/>
            <a:ext cx="71689" cy="174102"/>
          </a:xfrm>
          <a:prstGeom prst="line">
            <a:avLst/>
          </a:prstGeom>
          <a:ln w="13970">
            <a:solidFill>
              <a:srgbClr val="1E3E6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320000">
            <a:off x="1310202" y="1922535"/>
            <a:ext cx="94219" cy="117774"/>
          </a:xfrm>
          <a:prstGeom prst="triangle">
            <a:avLst/>
          </a:prstGeom>
          <a:solidFill>
            <a:srgbClr val="1E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V="1">
            <a:off x="2060417" y="2126528"/>
            <a:ext cx="163861" cy="102413"/>
          </a:xfrm>
          <a:prstGeom prst="line">
            <a:avLst/>
          </a:prstGeom>
          <a:ln w="13970">
            <a:solidFill>
              <a:srgbClr val="1E3E6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2152589" y="1952426"/>
            <a:ext cx="71689" cy="174102"/>
          </a:xfrm>
          <a:prstGeom prst="line">
            <a:avLst/>
          </a:prstGeom>
          <a:ln w="13970">
            <a:solidFill>
              <a:srgbClr val="1E3E6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20280000">
            <a:off x="2122418" y="1922535"/>
            <a:ext cx="94219" cy="117774"/>
          </a:xfrm>
          <a:prstGeom prst="triangle">
            <a:avLst/>
          </a:prstGeom>
          <a:solidFill>
            <a:srgbClr val="1E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" y="2944368"/>
            <a:ext cx="23564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750" b="1" i="0">
                <a:solidFill>
                  <a:srgbClr val="0C2864"/>
                </a:solidFill>
                <a:ea typeface="微软雅黑"/>
                <a:cs typeface="微软雅黑"/>
                <a:latin typeface="微软雅黑"/>
              </a:rPr>
              <a:t>1. 数据底座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8164" y="3346704"/>
            <a:ext cx="181051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统一、可信、可复用的数据特征基础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13232" y="3840480"/>
            <a:ext cx="2100376" cy="0"/>
          </a:xfrm>
          <a:prstGeom prst="line">
            <a:avLst/>
          </a:prstGeom>
          <a:ln w="12700">
            <a:solidFill>
              <a:srgbClr val="D6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03504" y="3959352"/>
            <a:ext cx="228600" cy="228600"/>
          </a:xfrm>
          <a:prstGeom prst="ellipse">
            <a:avLst/>
          </a:prstGeom>
          <a:solidFill>
            <a:srgbClr val="0C2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3959352"/>
            <a:ext cx="228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ea typeface="微软雅黑"/>
                <a:cs typeface="微软雅黑"/>
                <a:latin typeface="微软雅黑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3959352"/>
            <a:ext cx="1920240" cy="516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整合全行多维数据源，构建统一特征工程体系。</a:t>
            </a:r>
          </a:p>
        </p:txBody>
      </p:sp>
      <p:sp>
        <p:nvSpPr>
          <p:cNvPr id="39" name="Oval 38"/>
          <p:cNvSpPr/>
          <p:nvPr/>
        </p:nvSpPr>
        <p:spPr>
          <a:xfrm>
            <a:off x="603504" y="4475988"/>
            <a:ext cx="228600" cy="228600"/>
          </a:xfrm>
          <a:prstGeom prst="ellipse">
            <a:avLst/>
          </a:prstGeom>
          <a:solidFill>
            <a:srgbClr val="0C2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" y="4475988"/>
            <a:ext cx="228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ea typeface="微软雅黑"/>
                <a:cs typeface="微软雅黑"/>
                <a:latin typeface="微软雅黑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4475988"/>
            <a:ext cx="1920240" cy="516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建立高质量、标准化、可复用的数据特征库。</a:t>
            </a:r>
          </a:p>
        </p:txBody>
      </p:sp>
      <p:sp>
        <p:nvSpPr>
          <p:cNvPr id="42" name="Oval 41"/>
          <p:cNvSpPr/>
          <p:nvPr/>
        </p:nvSpPr>
        <p:spPr>
          <a:xfrm>
            <a:off x="603504" y="4992624"/>
            <a:ext cx="228600" cy="228600"/>
          </a:xfrm>
          <a:prstGeom prst="ellipse">
            <a:avLst/>
          </a:prstGeom>
          <a:solidFill>
            <a:srgbClr val="0C2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" y="4992624"/>
            <a:ext cx="228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ea typeface="微软雅黑"/>
                <a:cs typeface="微软雅黑"/>
                <a:latin typeface="微软雅黑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4992624"/>
            <a:ext cx="1920240" cy="516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实现特征数据全生命周期治理，保障数据质量。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43960" y="1554480"/>
            <a:ext cx="2612440" cy="4041648"/>
          </a:xfrm>
          <a:prstGeom prst="roundRect">
            <a:avLst>
              <a:gd name="adj" fmla="val 5500"/>
            </a:avLst>
          </a:prstGeom>
          <a:gradFill rotWithShape="1">
            <a:gsLst>
              <a:gs pos="0">
                <a:srgbClr val="DEF8F6"/>
              </a:gs>
              <a:gs pos="100000">
                <a:srgbClr val="FFFFFF"/>
              </a:gs>
            </a:gsLst>
            <a:lin scaled="0" ang="16200000"/>
          </a:gradFill>
          <a:ln w="15875">
            <a:solidFill>
              <a:srgbClr val="3FA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 flipV="1">
            <a:off x="4179082" y="2003633"/>
            <a:ext cx="778337" cy="40965"/>
          </a:xfrm>
          <a:prstGeom prst="line">
            <a:avLst/>
          </a:prstGeom>
          <a:ln w="11430">
            <a:solidFill>
              <a:srgbClr val="2A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179082" y="2044598"/>
            <a:ext cx="809061" cy="194584"/>
          </a:xfrm>
          <a:prstGeom prst="line">
            <a:avLst/>
          </a:prstGeom>
          <a:ln w="11430">
            <a:solidFill>
              <a:srgbClr val="2A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179082" y="2044598"/>
            <a:ext cx="788578" cy="430134"/>
          </a:xfrm>
          <a:prstGeom prst="line">
            <a:avLst/>
          </a:prstGeom>
          <a:ln w="11430">
            <a:solidFill>
              <a:srgbClr val="2A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158599" y="2003633"/>
            <a:ext cx="798820" cy="266273"/>
          </a:xfrm>
          <a:prstGeom prst="line">
            <a:avLst/>
          </a:prstGeom>
          <a:ln w="11430">
            <a:solidFill>
              <a:srgbClr val="2A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158599" y="2239182"/>
            <a:ext cx="829544" cy="30724"/>
          </a:xfrm>
          <a:prstGeom prst="line">
            <a:avLst/>
          </a:prstGeom>
          <a:ln w="11430">
            <a:solidFill>
              <a:srgbClr val="2A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158599" y="2269906"/>
            <a:ext cx="809061" cy="204826"/>
          </a:xfrm>
          <a:prstGeom prst="line">
            <a:avLst/>
          </a:prstGeom>
          <a:ln w="11430">
            <a:solidFill>
              <a:srgbClr val="2A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189323" y="2003633"/>
            <a:ext cx="768096" cy="491581"/>
          </a:xfrm>
          <a:prstGeom prst="line">
            <a:avLst/>
          </a:prstGeom>
          <a:ln w="11430">
            <a:solidFill>
              <a:srgbClr val="2A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189323" y="2239182"/>
            <a:ext cx="798820" cy="256032"/>
          </a:xfrm>
          <a:prstGeom prst="line">
            <a:avLst/>
          </a:prstGeom>
          <a:ln w="11430">
            <a:solidFill>
              <a:srgbClr val="2A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189323" y="2474732"/>
            <a:ext cx="778337" cy="20482"/>
          </a:xfrm>
          <a:prstGeom prst="line">
            <a:avLst/>
          </a:prstGeom>
          <a:ln w="11430">
            <a:solidFill>
              <a:srgbClr val="2A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4179082" y="1829531"/>
            <a:ext cx="471099" cy="215067"/>
          </a:xfrm>
          <a:prstGeom prst="line">
            <a:avLst/>
          </a:prstGeom>
          <a:ln w="11430">
            <a:solidFill>
              <a:srgbClr val="2A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 flipV="1">
            <a:off x="4179082" y="2044598"/>
            <a:ext cx="430134" cy="645201"/>
          </a:xfrm>
          <a:prstGeom prst="line">
            <a:avLst/>
          </a:prstGeom>
          <a:ln w="11430">
            <a:solidFill>
              <a:srgbClr val="2A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4158599" y="1829531"/>
            <a:ext cx="491582" cy="440375"/>
          </a:xfrm>
          <a:prstGeom prst="line">
            <a:avLst/>
          </a:prstGeom>
          <a:ln w="11430">
            <a:solidFill>
              <a:srgbClr val="2A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4158599" y="2269906"/>
            <a:ext cx="450617" cy="419893"/>
          </a:xfrm>
          <a:prstGeom prst="line">
            <a:avLst/>
          </a:prstGeom>
          <a:ln w="11430">
            <a:solidFill>
              <a:srgbClr val="2A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4189323" y="1829531"/>
            <a:ext cx="460858" cy="665683"/>
          </a:xfrm>
          <a:prstGeom prst="line">
            <a:avLst/>
          </a:prstGeom>
          <a:ln w="11430">
            <a:solidFill>
              <a:srgbClr val="2A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4189323" y="2495214"/>
            <a:ext cx="419893" cy="194585"/>
          </a:xfrm>
          <a:prstGeom prst="line">
            <a:avLst/>
          </a:prstGeom>
          <a:ln w="11430">
            <a:solidFill>
              <a:srgbClr val="2A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650181" y="1829531"/>
            <a:ext cx="307238" cy="174102"/>
          </a:xfrm>
          <a:prstGeom prst="line">
            <a:avLst/>
          </a:prstGeom>
          <a:ln w="11430">
            <a:solidFill>
              <a:srgbClr val="2A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609216" y="2003633"/>
            <a:ext cx="348203" cy="686166"/>
          </a:xfrm>
          <a:prstGeom prst="line">
            <a:avLst/>
          </a:prstGeom>
          <a:ln w="11430">
            <a:solidFill>
              <a:srgbClr val="2A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650181" y="1829531"/>
            <a:ext cx="337962" cy="409651"/>
          </a:xfrm>
          <a:prstGeom prst="line">
            <a:avLst/>
          </a:prstGeom>
          <a:ln w="11430">
            <a:solidFill>
              <a:srgbClr val="2A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609216" y="2239182"/>
            <a:ext cx="378927" cy="450617"/>
          </a:xfrm>
          <a:prstGeom prst="line">
            <a:avLst/>
          </a:prstGeom>
          <a:ln w="11430">
            <a:solidFill>
              <a:srgbClr val="2A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650181" y="1829531"/>
            <a:ext cx="317479" cy="645201"/>
          </a:xfrm>
          <a:prstGeom prst="line">
            <a:avLst/>
          </a:prstGeom>
          <a:ln w="11430">
            <a:solidFill>
              <a:srgbClr val="2A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609216" y="2474732"/>
            <a:ext cx="358444" cy="215067"/>
          </a:xfrm>
          <a:prstGeom prst="line">
            <a:avLst/>
          </a:prstGeom>
          <a:ln w="11430">
            <a:solidFill>
              <a:srgbClr val="2A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4104833" y="1970349"/>
            <a:ext cx="148498" cy="148498"/>
          </a:xfrm>
          <a:prstGeom prst="ellipse">
            <a:avLst/>
          </a:prstGeom>
          <a:solidFill>
            <a:srgbClr val="CBE9E6"/>
          </a:solidFill>
          <a:ln w="13970">
            <a:solidFill>
              <a:srgbClr val="1E6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084350" y="2195657"/>
            <a:ext cx="148498" cy="148498"/>
          </a:xfrm>
          <a:prstGeom prst="ellipse">
            <a:avLst/>
          </a:prstGeom>
          <a:solidFill>
            <a:srgbClr val="CBE9E6"/>
          </a:solidFill>
          <a:ln w="13970">
            <a:solidFill>
              <a:srgbClr val="1E6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115074" y="2420965"/>
            <a:ext cx="148498" cy="148498"/>
          </a:xfrm>
          <a:prstGeom prst="ellipse">
            <a:avLst/>
          </a:prstGeom>
          <a:solidFill>
            <a:srgbClr val="CBE9E6"/>
          </a:solidFill>
          <a:ln w="13970">
            <a:solidFill>
              <a:srgbClr val="1E6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875489" y="1921703"/>
            <a:ext cx="163860" cy="163860"/>
          </a:xfrm>
          <a:prstGeom prst="ellipse">
            <a:avLst/>
          </a:prstGeom>
          <a:solidFill>
            <a:srgbClr val="5AAFA8"/>
          </a:solidFill>
          <a:ln w="13970">
            <a:solidFill>
              <a:srgbClr val="1E6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906213" y="2157252"/>
            <a:ext cx="163860" cy="163860"/>
          </a:xfrm>
          <a:prstGeom prst="ellipse">
            <a:avLst/>
          </a:prstGeom>
          <a:solidFill>
            <a:srgbClr val="5AAFA8"/>
          </a:solidFill>
          <a:ln w="13970">
            <a:solidFill>
              <a:srgbClr val="1E6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885730" y="2392801"/>
            <a:ext cx="163860" cy="163860"/>
          </a:xfrm>
          <a:prstGeom prst="ellipse">
            <a:avLst/>
          </a:prstGeom>
          <a:solidFill>
            <a:srgbClr val="5AAFA8"/>
          </a:solidFill>
          <a:ln w="13970">
            <a:solidFill>
              <a:srgbClr val="1E6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568250" y="1747601"/>
            <a:ext cx="163860" cy="163860"/>
          </a:xfrm>
          <a:prstGeom prst="ellipse">
            <a:avLst/>
          </a:prstGeom>
          <a:solidFill>
            <a:srgbClr val="5AAFA8"/>
          </a:solidFill>
          <a:ln w="13970">
            <a:solidFill>
              <a:srgbClr val="1E6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527285" y="2607868"/>
            <a:ext cx="163860" cy="163860"/>
          </a:xfrm>
          <a:prstGeom prst="ellipse">
            <a:avLst/>
          </a:prstGeom>
          <a:solidFill>
            <a:srgbClr val="5AAFA8"/>
          </a:solidFill>
          <a:ln w="13970">
            <a:solidFill>
              <a:srgbClr val="1E6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4476079" y="2044598"/>
            <a:ext cx="348203" cy="409651"/>
          </a:xfrm>
          <a:prstGeom prst="roundRect">
            <a:avLst>
              <a:gd name="adj" fmla="val 40000"/>
            </a:avLst>
          </a:prstGeom>
          <a:solidFill>
            <a:srgbClr val="D9F1EF"/>
          </a:solidFill>
          <a:ln w="19050">
            <a:solidFill>
              <a:srgbClr val="1E6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76079" y="2044598"/>
            <a:ext cx="348203" cy="4096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046EA4"/>
                </a:solidFill>
                <a:ea typeface="Arial Black"/>
                <a:cs typeface="Arial Black"/>
                <a:latin typeface="Arial Black"/>
              </a:rPr>
              <a:t>AI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5111038" y="2034357"/>
            <a:ext cx="163861" cy="0"/>
          </a:xfrm>
          <a:prstGeom prst="line">
            <a:avLst/>
          </a:prstGeom>
          <a:ln w="19050">
            <a:solidFill>
              <a:srgbClr val="9EC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5111038" y="2085563"/>
            <a:ext cx="122896" cy="0"/>
          </a:xfrm>
          <a:prstGeom prst="line">
            <a:avLst/>
          </a:prstGeom>
          <a:ln w="19050">
            <a:solidFill>
              <a:srgbClr val="9EC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5111038" y="2136769"/>
            <a:ext cx="81931" cy="0"/>
          </a:xfrm>
          <a:prstGeom prst="line">
            <a:avLst/>
          </a:prstGeom>
          <a:ln w="19050">
            <a:solidFill>
              <a:srgbClr val="9EC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5090556" y="2382560"/>
            <a:ext cx="143378" cy="0"/>
          </a:xfrm>
          <a:prstGeom prst="line">
            <a:avLst/>
          </a:prstGeom>
          <a:ln w="19050">
            <a:solidFill>
              <a:srgbClr val="9EC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5090556" y="2433767"/>
            <a:ext cx="92171" cy="0"/>
          </a:xfrm>
          <a:prstGeom prst="line">
            <a:avLst/>
          </a:prstGeom>
          <a:ln w="19050">
            <a:solidFill>
              <a:srgbClr val="9EC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090556" y="2484973"/>
            <a:ext cx="40965" cy="0"/>
          </a:xfrm>
          <a:prstGeom prst="line">
            <a:avLst/>
          </a:prstGeom>
          <a:ln w="19050">
            <a:solidFill>
              <a:srgbClr val="9EC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3471976" y="2944368"/>
            <a:ext cx="23564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750" b="1" i="0">
                <a:solidFill>
                  <a:srgbClr val="0C2864"/>
                </a:solidFill>
                <a:ea typeface="微软雅黑"/>
                <a:cs typeface="微软雅黑"/>
                <a:latin typeface="微软雅黑"/>
              </a:rPr>
              <a:t>2. 模型预测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744925" y="3346704"/>
            <a:ext cx="181051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替代静态参数 ρ 的多模型预测引擎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3599992" y="3840480"/>
            <a:ext cx="2100377" cy="0"/>
          </a:xfrm>
          <a:prstGeom prst="line">
            <a:avLst/>
          </a:prstGeom>
          <a:ln w="12700">
            <a:solidFill>
              <a:srgbClr val="D6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Oval 85"/>
          <p:cNvSpPr/>
          <p:nvPr/>
        </p:nvSpPr>
        <p:spPr>
          <a:xfrm>
            <a:off x="3490264" y="3959352"/>
            <a:ext cx="228600" cy="228600"/>
          </a:xfrm>
          <a:prstGeom prst="ellipse">
            <a:avLst/>
          </a:prstGeom>
          <a:solidFill>
            <a:srgbClr val="2BB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490264" y="3959352"/>
            <a:ext cx="228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ea typeface="微软雅黑"/>
                <a:cs typeface="微软雅黑"/>
                <a:latin typeface="微软雅黑"/>
              </a:rPr>
              <a:t>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755440" y="3959352"/>
            <a:ext cx="1920240" cy="516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引入机器学习与深度学习算法，构建多模型组合。</a:t>
            </a:r>
          </a:p>
        </p:txBody>
      </p:sp>
      <p:sp>
        <p:nvSpPr>
          <p:cNvPr id="89" name="Oval 88"/>
          <p:cNvSpPr/>
          <p:nvPr/>
        </p:nvSpPr>
        <p:spPr>
          <a:xfrm>
            <a:off x="3490264" y="4475988"/>
            <a:ext cx="228600" cy="228600"/>
          </a:xfrm>
          <a:prstGeom prst="ellipse">
            <a:avLst/>
          </a:prstGeom>
          <a:solidFill>
            <a:srgbClr val="2BB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490264" y="4475988"/>
            <a:ext cx="228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ea typeface="微软雅黑"/>
                <a:cs typeface="微软雅黑"/>
                <a:latin typeface="微软雅黑"/>
              </a:rPr>
              <a:t>✓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755440" y="4475988"/>
            <a:ext cx="1920240" cy="516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动态自适应市场变化与业务波动，实现精准预测。</a:t>
            </a:r>
          </a:p>
        </p:txBody>
      </p:sp>
      <p:sp>
        <p:nvSpPr>
          <p:cNvPr id="92" name="Oval 91"/>
          <p:cNvSpPr/>
          <p:nvPr/>
        </p:nvSpPr>
        <p:spPr>
          <a:xfrm>
            <a:off x="3490264" y="4992624"/>
            <a:ext cx="228600" cy="228600"/>
          </a:xfrm>
          <a:prstGeom prst="ellipse">
            <a:avLst/>
          </a:prstGeom>
          <a:solidFill>
            <a:srgbClr val="2BB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490264" y="4992624"/>
            <a:ext cx="228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ea typeface="微软雅黑"/>
                <a:cs typeface="微软雅黑"/>
                <a:latin typeface="微软雅黑"/>
              </a:rPr>
              <a:t>✓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755440" y="4992624"/>
            <a:ext cx="1920240" cy="516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提供多维度、细颗粒度的业务量预测输出。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230721" y="1554480"/>
            <a:ext cx="2612440" cy="4041648"/>
          </a:xfrm>
          <a:prstGeom prst="roundRect">
            <a:avLst>
              <a:gd name="adj" fmla="val 5500"/>
            </a:avLst>
          </a:prstGeom>
          <a:solidFill>
            <a:srgbClr val="EBEFF2"/>
          </a:solidFill>
          <a:ln w="15875">
            <a:solidFill>
              <a:srgbClr val="C4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7158014" y="1931944"/>
            <a:ext cx="757854" cy="63495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24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7158014" y="1931944"/>
            <a:ext cx="757854" cy="112654"/>
          </a:xfrm>
          <a:prstGeom prst="roundRect">
            <a:avLst>
              <a:gd name="adj" fmla="val 7000"/>
            </a:avLst>
          </a:prstGeom>
          <a:solidFill>
            <a:srgbClr val="DCE6F0"/>
          </a:solidFill>
          <a:ln w="12700">
            <a:solidFill>
              <a:srgbClr val="24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209221" y="1968812"/>
            <a:ext cx="28675" cy="28675"/>
          </a:xfrm>
          <a:prstGeom prst="ellipse">
            <a:avLst/>
          </a:prstGeom>
          <a:solidFill>
            <a:srgbClr val="244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265548" y="1968812"/>
            <a:ext cx="28675" cy="28675"/>
          </a:xfrm>
          <a:prstGeom prst="ellipse">
            <a:avLst/>
          </a:prstGeom>
          <a:solidFill>
            <a:srgbClr val="244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321875" y="1968812"/>
            <a:ext cx="28675" cy="28675"/>
          </a:xfrm>
          <a:prstGeom prst="ellipse">
            <a:avLst/>
          </a:prstGeom>
          <a:solidFill>
            <a:srgbClr val="244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7193859" y="2085563"/>
            <a:ext cx="133136" cy="409651"/>
          </a:xfrm>
          <a:prstGeom prst="roundRect">
            <a:avLst>
              <a:gd name="adj" fmla="val 14000"/>
            </a:avLst>
          </a:prstGeom>
          <a:solidFill>
            <a:srgbClr val="DC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7211269" y="2126528"/>
            <a:ext cx="97292" cy="51206"/>
          </a:xfrm>
          <a:prstGeom prst="roundRect">
            <a:avLst>
              <a:gd name="adj" fmla="val 22000"/>
            </a:avLst>
          </a:prstGeom>
          <a:solidFill>
            <a:srgbClr val="7F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7211269" y="2218700"/>
            <a:ext cx="97292" cy="18434"/>
          </a:xfrm>
          <a:prstGeom prst="roundRect">
            <a:avLst>
              <a:gd name="adj" fmla="val 50000"/>
            </a:avLst>
          </a:prstGeom>
          <a:solidFill>
            <a:srgbClr val="A9B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7211269" y="2275027"/>
            <a:ext cx="97292" cy="18434"/>
          </a:xfrm>
          <a:prstGeom prst="roundRect">
            <a:avLst>
              <a:gd name="adj" fmla="val 50000"/>
            </a:avLst>
          </a:prstGeom>
          <a:solidFill>
            <a:srgbClr val="A9B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7211269" y="2331354"/>
            <a:ext cx="97292" cy="18434"/>
          </a:xfrm>
          <a:prstGeom prst="roundRect">
            <a:avLst>
              <a:gd name="adj" fmla="val 50000"/>
            </a:avLst>
          </a:prstGeom>
          <a:solidFill>
            <a:srgbClr val="A9B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Pie 105"/>
          <p:cNvSpPr/>
          <p:nvPr/>
        </p:nvSpPr>
        <p:spPr>
          <a:xfrm>
            <a:off x="7373081" y="2090684"/>
            <a:ext cx="174101" cy="174101"/>
          </a:xfrm>
          <a:prstGeom prst="pie">
            <a:avLst/>
          </a:prstGeom>
          <a:solidFill>
            <a:srgbClr val="7FA8CC"/>
          </a:solidFill>
          <a:ln w="11430">
            <a:solidFill>
              <a:srgbClr val="24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>
            <a:off x="7598389" y="2100925"/>
            <a:ext cx="112654" cy="0"/>
          </a:xfrm>
          <a:prstGeom prst="line">
            <a:avLst/>
          </a:prstGeom>
          <a:ln w="17780">
            <a:solidFill>
              <a:srgbClr val="A9BF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7598389" y="2136769"/>
            <a:ext cx="71689" cy="0"/>
          </a:xfrm>
          <a:prstGeom prst="line">
            <a:avLst/>
          </a:prstGeom>
          <a:ln w="17780">
            <a:solidFill>
              <a:srgbClr val="A9BF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Freeform 108"/>
          <p:cNvSpPr/>
          <p:nvPr/>
        </p:nvSpPr>
        <p:spPr>
          <a:xfrm>
            <a:off x="7598389" y="2121408"/>
            <a:ext cx="266273" cy="133136"/>
          </a:xfrm>
          <a:custGeom>
            <a:avLst/>
            <a:gdLst/>
            <a:ahLst/>
            <a:cxnLst/>
            <a:rect l="l" t="t" r="r" b="b"/>
            <a:pathLst>
              <a:path w="266273" h="133136">
                <a:moveTo>
                  <a:pt x="0" y="133136"/>
                </a:moveTo>
                <a:lnTo>
                  <a:pt x="0" y="61447"/>
                </a:lnTo>
                <a:lnTo>
                  <a:pt x="71689" y="30723"/>
                </a:lnTo>
                <a:lnTo>
                  <a:pt x="133137" y="81930"/>
                </a:lnTo>
                <a:lnTo>
                  <a:pt x="194584" y="0"/>
                </a:lnTo>
                <a:lnTo>
                  <a:pt x="266273" y="40965"/>
                </a:lnTo>
                <a:lnTo>
                  <a:pt x="266273" y="133136"/>
                </a:lnTo>
                <a:close/>
              </a:path>
            </a:pathLst>
          </a:custGeom>
          <a:solidFill>
            <a:srgbClr val="C9DDEE"/>
          </a:solidFill>
          <a:ln w="11430">
            <a:solidFill>
              <a:srgbClr val="2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7362840" y="2459370"/>
            <a:ext cx="34820" cy="61447"/>
          </a:xfrm>
          <a:prstGeom prst="roundRect">
            <a:avLst>
              <a:gd name="adj" fmla="val 16000"/>
            </a:avLst>
          </a:prstGeom>
          <a:solidFill>
            <a:srgbClr val="7FA8CC"/>
          </a:solidFill>
          <a:ln w="7620">
            <a:solidFill>
              <a:srgbClr val="24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7419167" y="2428646"/>
            <a:ext cx="34820" cy="92171"/>
          </a:xfrm>
          <a:prstGeom prst="roundRect">
            <a:avLst>
              <a:gd name="adj" fmla="val 16000"/>
            </a:avLst>
          </a:prstGeom>
          <a:solidFill>
            <a:srgbClr val="7FA8CC"/>
          </a:solidFill>
          <a:ln w="7620">
            <a:solidFill>
              <a:srgbClr val="24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7475494" y="2403043"/>
            <a:ext cx="34820" cy="117774"/>
          </a:xfrm>
          <a:prstGeom prst="roundRect">
            <a:avLst>
              <a:gd name="adj" fmla="val 16000"/>
            </a:avLst>
          </a:prstGeom>
          <a:solidFill>
            <a:srgbClr val="7FA8CC"/>
          </a:solidFill>
          <a:ln w="7620">
            <a:solidFill>
              <a:srgbClr val="24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7531821" y="2367198"/>
            <a:ext cx="34820" cy="153619"/>
          </a:xfrm>
          <a:prstGeom prst="roundRect">
            <a:avLst>
              <a:gd name="adj" fmla="val 16000"/>
            </a:avLst>
          </a:prstGeom>
          <a:solidFill>
            <a:srgbClr val="7FA8CC"/>
          </a:solidFill>
          <a:ln w="7620">
            <a:solidFill>
              <a:srgbClr val="24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7623992" y="2469611"/>
            <a:ext cx="22530" cy="51206"/>
          </a:xfrm>
          <a:prstGeom prst="roundRect">
            <a:avLst>
              <a:gd name="adj" fmla="val 20000"/>
            </a:avLst>
          </a:prstGeom>
          <a:solidFill>
            <a:srgbClr val="A9BFD4"/>
          </a:solidFill>
          <a:ln w="6350">
            <a:solidFill>
              <a:srgbClr val="24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7656764" y="2433767"/>
            <a:ext cx="22530" cy="87050"/>
          </a:xfrm>
          <a:prstGeom prst="roundRect">
            <a:avLst>
              <a:gd name="adj" fmla="val 20000"/>
            </a:avLst>
          </a:prstGeom>
          <a:solidFill>
            <a:srgbClr val="A9BFD4"/>
          </a:solidFill>
          <a:ln w="6350">
            <a:solidFill>
              <a:srgbClr val="24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7689537" y="2403043"/>
            <a:ext cx="22530" cy="117774"/>
          </a:xfrm>
          <a:prstGeom prst="roundRect">
            <a:avLst>
              <a:gd name="adj" fmla="val 20000"/>
            </a:avLst>
          </a:prstGeom>
          <a:solidFill>
            <a:srgbClr val="A9BFD4"/>
          </a:solidFill>
          <a:ln w="6350">
            <a:solidFill>
              <a:srgbClr val="24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Donut 116"/>
          <p:cNvSpPr/>
          <p:nvPr/>
        </p:nvSpPr>
        <p:spPr>
          <a:xfrm>
            <a:off x="7726405" y="2367198"/>
            <a:ext cx="76809" cy="76809"/>
          </a:xfrm>
          <a:prstGeom prst="donut">
            <a:avLst/>
          </a:prstGeom>
          <a:solidFill>
            <a:srgbClr val="7FA8CC"/>
          </a:solidFill>
          <a:ln w="8890">
            <a:solidFill>
              <a:srgbClr val="24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Donut 117"/>
          <p:cNvSpPr/>
          <p:nvPr/>
        </p:nvSpPr>
        <p:spPr>
          <a:xfrm>
            <a:off x="7808335" y="2367198"/>
            <a:ext cx="76809" cy="76809"/>
          </a:xfrm>
          <a:prstGeom prst="donut">
            <a:avLst/>
          </a:prstGeom>
          <a:solidFill>
            <a:srgbClr val="7FA8CC"/>
          </a:solidFill>
          <a:ln w="8890">
            <a:solidFill>
              <a:srgbClr val="24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358737" y="2944368"/>
            <a:ext cx="23564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750" b="1" i="0">
                <a:solidFill>
                  <a:srgbClr val="0C2864"/>
                </a:solidFill>
                <a:ea typeface="微软雅黑"/>
                <a:cs typeface="微软雅黑"/>
                <a:latin typeface="微软雅黑"/>
              </a:rPr>
              <a:t>3. 经营分析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31686" y="3346704"/>
            <a:ext cx="181051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将预测数值转化为经营决策语言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6486753" y="3840480"/>
            <a:ext cx="2100377" cy="0"/>
          </a:xfrm>
          <a:prstGeom prst="line">
            <a:avLst/>
          </a:prstGeom>
          <a:ln w="12700">
            <a:solidFill>
              <a:srgbClr val="D6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6377025" y="3959352"/>
            <a:ext cx="228600" cy="228600"/>
          </a:xfrm>
          <a:prstGeom prst="ellipse">
            <a:avLst/>
          </a:prstGeom>
          <a:solidFill>
            <a:srgbClr val="0C2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377025" y="3959352"/>
            <a:ext cx="228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ea typeface="微软雅黑"/>
                <a:cs typeface="微软雅黑"/>
                <a:latin typeface="微软雅黑"/>
              </a:rPr>
              <a:t>✓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42201" y="3959352"/>
            <a:ext cx="1920240" cy="516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深度挖掘预测结果背后的业务驱动因素与风险点。</a:t>
            </a:r>
          </a:p>
        </p:txBody>
      </p:sp>
      <p:sp>
        <p:nvSpPr>
          <p:cNvPr id="125" name="Oval 124"/>
          <p:cNvSpPr/>
          <p:nvPr/>
        </p:nvSpPr>
        <p:spPr>
          <a:xfrm>
            <a:off x="6377025" y="4475988"/>
            <a:ext cx="228600" cy="228600"/>
          </a:xfrm>
          <a:prstGeom prst="ellipse">
            <a:avLst/>
          </a:prstGeom>
          <a:solidFill>
            <a:srgbClr val="0C2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77025" y="4475988"/>
            <a:ext cx="228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ea typeface="微软雅黑"/>
                <a:cs typeface="微软雅黑"/>
                <a:latin typeface="微软雅黑"/>
              </a:rPr>
              <a:t>✓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642201" y="4475988"/>
            <a:ext cx="1920240" cy="516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生成可视化分析报告，辅助管理层战略决策。</a:t>
            </a:r>
          </a:p>
        </p:txBody>
      </p:sp>
      <p:sp>
        <p:nvSpPr>
          <p:cNvPr id="128" name="Oval 127"/>
          <p:cNvSpPr/>
          <p:nvPr/>
        </p:nvSpPr>
        <p:spPr>
          <a:xfrm>
            <a:off x="6377025" y="4992624"/>
            <a:ext cx="228600" cy="228600"/>
          </a:xfrm>
          <a:prstGeom prst="ellipse">
            <a:avLst/>
          </a:prstGeom>
          <a:solidFill>
            <a:srgbClr val="0C2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377025" y="4992624"/>
            <a:ext cx="228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ea typeface="微软雅黑"/>
                <a:cs typeface="微软雅黑"/>
                <a:latin typeface="微软雅黑"/>
              </a:rPr>
              <a:t>✓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642201" y="4992624"/>
            <a:ext cx="1920240" cy="516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提供差异化经营策略建议，优化资源配置。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9117482" y="1554480"/>
            <a:ext cx="2612440" cy="4041648"/>
          </a:xfrm>
          <a:prstGeom prst="roundRect">
            <a:avLst>
              <a:gd name="adj" fmla="val 5500"/>
            </a:avLst>
          </a:prstGeom>
          <a:gradFill rotWithShape="1">
            <a:gsLst>
              <a:gs pos="0">
                <a:srgbClr val="F9F1DE"/>
              </a:gs>
              <a:gs pos="100000">
                <a:srgbClr val="FFFFFF"/>
              </a:gs>
            </a:gsLst>
            <a:lin scaled="0" ang="16200000"/>
          </a:gradFill>
          <a:ln w="15875">
            <a:solidFill>
              <a:srgbClr val="C9A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 flipV="1">
            <a:off x="9911638" y="2228941"/>
            <a:ext cx="286756" cy="235549"/>
          </a:xfrm>
          <a:prstGeom prst="line">
            <a:avLst/>
          </a:prstGeom>
          <a:ln w="43180">
            <a:solidFill>
              <a:srgbClr val="E9C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0198394" y="2228941"/>
            <a:ext cx="215067" cy="153619"/>
          </a:xfrm>
          <a:prstGeom prst="line">
            <a:avLst/>
          </a:prstGeom>
          <a:ln w="43180">
            <a:solidFill>
              <a:srgbClr val="E9C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10413461" y="2147011"/>
            <a:ext cx="194584" cy="235549"/>
          </a:xfrm>
          <a:prstGeom prst="line">
            <a:avLst/>
          </a:prstGeom>
          <a:ln w="43180">
            <a:solidFill>
              <a:srgbClr val="E9C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0608045" y="1983150"/>
            <a:ext cx="153620" cy="163861"/>
          </a:xfrm>
          <a:prstGeom prst="line">
            <a:avLst/>
          </a:prstGeom>
          <a:ln w="43180">
            <a:solidFill>
              <a:srgbClr val="E9C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Isosceles Triangle 135"/>
          <p:cNvSpPr/>
          <p:nvPr/>
        </p:nvSpPr>
        <p:spPr>
          <a:xfrm rot="2589143">
            <a:off x="10797503" y="1879753"/>
            <a:ext cx="126991" cy="158739"/>
          </a:xfrm>
          <a:prstGeom prst="triangle">
            <a:avLst/>
          </a:prstGeom>
          <a:solidFill>
            <a:srgbClr val="E9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10305928" y="2351836"/>
            <a:ext cx="235549" cy="102412"/>
          </a:xfrm>
          <a:prstGeom prst="roundRect">
            <a:avLst>
              <a:gd name="adj" fmla="val 18000"/>
            </a:avLst>
          </a:prstGeom>
          <a:solidFill>
            <a:srgbClr val="2E5A86"/>
          </a:solidFill>
          <a:ln w="12700">
            <a:solidFill>
              <a:srgbClr val="1E3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10382737" y="2218700"/>
            <a:ext cx="81930" cy="143377"/>
          </a:xfrm>
          <a:prstGeom prst="roundRect">
            <a:avLst>
              <a:gd name="adj" fmla="val 20000"/>
            </a:avLst>
          </a:prstGeom>
          <a:solidFill>
            <a:srgbClr val="E9C97A"/>
          </a:solidFill>
          <a:ln w="12700">
            <a:solidFill>
              <a:srgbClr val="8A6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Donut 138"/>
          <p:cNvSpPr/>
          <p:nvPr/>
        </p:nvSpPr>
        <p:spPr>
          <a:xfrm>
            <a:off x="10121585" y="1988271"/>
            <a:ext cx="117774" cy="117774"/>
          </a:xfrm>
          <a:prstGeom prst="donut">
            <a:avLst/>
          </a:prstGeom>
          <a:solidFill>
            <a:srgbClr val="E9C97A"/>
          </a:solidFill>
          <a:ln w="12700">
            <a:solidFill>
              <a:srgbClr val="8A6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Donut 139"/>
          <p:cNvSpPr/>
          <p:nvPr/>
        </p:nvSpPr>
        <p:spPr>
          <a:xfrm>
            <a:off x="10608045" y="1988271"/>
            <a:ext cx="117774" cy="117774"/>
          </a:xfrm>
          <a:prstGeom prst="donut">
            <a:avLst/>
          </a:prstGeom>
          <a:solidFill>
            <a:srgbClr val="E9C97A"/>
          </a:solidFill>
          <a:ln w="12700">
            <a:solidFill>
              <a:srgbClr val="8A6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rapezoid 140"/>
          <p:cNvSpPr/>
          <p:nvPr/>
        </p:nvSpPr>
        <p:spPr>
          <a:xfrm rot="10800000">
            <a:off x="10229118" y="1942185"/>
            <a:ext cx="389168" cy="286755"/>
          </a:xfrm>
          <a:prstGeom prst="trapezoid">
            <a:avLst/>
          </a:prstGeom>
          <a:solidFill>
            <a:srgbClr val="E9C97A"/>
          </a:solidFill>
          <a:ln w="15240">
            <a:solidFill>
              <a:srgbClr val="8A6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10203515" y="1916582"/>
            <a:ext cx="440375" cy="56327"/>
          </a:xfrm>
          <a:prstGeom prst="roundRect">
            <a:avLst>
              <a:gd name="adj" fmla="val 45000"/>
            </a:avLst>
          </a:prstGeom>
          <a:solidFill>
            <a:srgbClr val="E9C97A"/>
          </a:solidFill>
          <a:ln w="12700">
            <a:solidFill>
              <a:srgbClr val="8A6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5-Point Star 142"/>
          <p:cNvSpPr/>
          <p:nvPr/>
        </p:nvSpPr>
        <p:spPr>
          <a:xfrm>
            <a:off x="10357134" y="2008753"/>
            <a:ext cx="133136" cy="133136"/>
          </a:xfrm>
          <a:prstGeom prst="star5">
            <a:avLst/>
          </a:prstGeom>
          <a:solidFill>
            <a:srgbClr val="FFFFFF"/>
          </a:solidFill>
          <a:ln w="10160">
            <a:solidFill>
              <a:srgbClr val="8A6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4-Point Star 143"/>
          <p:cNvSpPr/>
          <p:nvPr/>
        </p:nvSpPr>
        <p:spPr>
          <a:xfrm>
            <a:off x="9934681" y="1965228"/>
            <a:ext cx="117774" cy="117774"/>
          </a:xfrm>
          <a:prstGeom prst="star4">
            <a:avLst/>
          </a:prstGeom>
          <a:solidFill>
            <a:srgbClr val="8A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4-Point Star 144"/>
          <p:cNvSpPr/>
          <p:nvPr/>
        </p:nvSpPr>
        <p:spPr>
          <a:xfrm>
            <a:off x="10072938" y="2472171"/>
            <a:ext cx="87050" cy="87050"/>
          </a:xfrm>
          <a:prstGeom prst="star4">
            <a:avLst/>
          </a:prstGeom>
          <a:solidFill>
            <a:srgbClr val="8A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4-Point Star 145"/>
          <p:cNvSpPr/>
          <p:nvPr/>
        </p:nvSpPr>
        <p:spPr>
          <a:xfrm>
            <a:off x="10728380" y="1837212"/>
            <a:ext cx="128016" cy="128016"/>
          </a:xfrm>
          <a:prstGeom prst="star4">
            <a:avLst/>
          </a:prstGeom>
          <a:solidFill>
            <a:srgbClr val="8A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245498" y="2944368"/>
            <a:ext cx="23564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750" b="1" i="0">
                <a:solidFill>
                  <a:srgbClr val="0C2864"/>
                </a:solidFill>
                <a:ea typeface="微软雅黑"/>
                <a:cs typeface="微软雅黑"/>
                <a:latin typeface="微软雅黑"/>
              </a:rPr>
              <a:t>4. 经营价值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518446" y="3346704"/>
            <a:ext cx="181051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从“预测更准”走向“经营更优”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9373514" y="3840480"/>
            <a:ext cx="2100377" cy="0"/>
          </a:xfrm>
          <a:prstGeom prst="line">
            <a:avLst/>
          </a:prstGeom>
          <a:ln w="12700">
            <a:solidFill>
              <a:srgbClr val="D9C9A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Oval 149"/>
          <p:cNvSpPr/>
          <p:nvPr/>
        </p:nvSpPr>
        <p:spPr>
          <a:xfrm>
            <a:off x="9263786" y="3959352"/>
            <a:ext cx="228600" cy="228600"/>
          </a:xfrm>
          <a:prstGeom prst="ellipse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263786" y="3959352"/>
            <a:ext cx="228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ea typeface="微软雅黑"/>
                <a:cs typeface="微软雅黑"/>
                <a:latin typeface="微软雅黑"/>
              </a:rPr>
              <a:t>✓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528962" y="3959352"/>
            <a:ext cx="1920240" cy="516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提升业务规划的科学性与前瞻性，降低经营风险。</a:t>
            </a:r>
          </a:p>
        </p:txBody>
      </p:sp>
      <p:sp>
        <p:nvSpPr>
          <p:cNvPr id="153" name="Oval 152"/>
          <p:cNvSpPr/>
          <p:nvPr/>
        </p:nvSpPr>
        <p:spPr>
          <a:xfrm>
            <a:off x="9263786" y="4475988"/>
            <a:ext cx="228600" cy="228600"/>
          </a:xfrm>
          <a:prstGeom prst="ellipse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263786" y="4475988"/>
            <a:ext cx="228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ea typeface="微软雅黑"/>
                <a:cs typeface="微软雅黑"/>
                <a:latin typeface="微软雅黑"/>
              </a:rPr>
              <a:t>✓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528962" y="4475988"/>
            <a:ext cx="1920240" cy="516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赋能精准营销、客户服务与产品创新。</a:t>
            </a:r>
          </a:p>
        </p:txBody>
      </p:sp>
      <p:sp>
        <p:nvSpPr>
          <p:cNvPr id="156" name="Oval 155"/>
          <p:cNvSpPr/>
          <p:nvPr/>
        </p:nvSpPr>
        <p:spPr>
          <a:xfrm>
            <a:off x="9263786" y="4992624"/>
            <a:ext cx="228600" cy="228600"/>
          </a:xfrm>
          <a:prstGeom prst="ellipse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9263786" y="4992624"/>
            <a:ext cx="228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ea typeface="微软雅黑"/>
                <a:cs typeface="微软雅黑"/>
                <a:latin typeface="微软雅黑"/>
              </a:rPr>
              <a:t>✓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28962" y="4992624"/>
            <a:ext cx="1920240" cy="516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驱动全行经营绩效持续增长，实现价值最大化。</a:t>
            </a:r>
          </a:p>
        </p:txBody>
      </p:sp>
      <p:sp>
        <p:nvSpPr>
          <p:cNvPr id="159" name="Chevron 158"/>
          <p:cNvSpPr/>
          <p:nvPr/>
        </p:nvSpPr>
        <p:spPr>
          <a:xfrm>
            <a:off x="3033064" y="3291840"/>
            <a:ext cx="347472" cy="566928"/>
          </a:xfrm>
          <a:prstGeom prst="chevron">
            <a:avLst/>
          </a:prstGeom>
          <a:solidFill>
            <a:srgbClr val="C7D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Chevron 159"/>
          <p:cNvSpPr/>
          <p:nvPr/>
        </p:nvSpPr>
        <p:spPr>
          <a:xfrm>
            <a:off x="5919825" y="3291840"/>
            <a:ext cx="347472" cy="566928"/>
          </a:xfrm>
          <a:prstGeom prst="chevron">
            <a:avLst/>
          </a:prstGeom>
          <a:solidFill>
            <a:srgbClr val="C7D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Chevron 160"/>
          <p:cNvSpPr/>
          <p:nvPr/>
        </p:nvSpPr>
        <p:spPr>
          <a:xfrm>
            <a:off x="8806586" y="3291840"/>
            <a:ext cx="347472" cy="566928"/>
          </a:xfrm>
          <a:prstGeom prst="chevron">
            <a:avLst/>
          </a:prstGeom>
          <a:solidFill>
            <a:srgbClr val="C7D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457200" y="5687568"/>
            <a:ext cx="11274552" cy="493776"/>
          </a:xfrm>
          <a:prstGeom prst="roundRect">
            <a:avLst>
              <a:gd name="adj" fmla="val 14000"/>
            </a:avLst>
          </a:prstGeom>
          <a:solidFill>
            <a:srgbClr val="0C2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85800" y="5687568"/>
            <a:ext cx="1081735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FFFFFF"/>
                </a:solidFill>
                <a:ea typeface="微软雅黑"/>
                <a:cs typeface="微软雅黑"/>
                <a:latin typeface="微软雅黑"/>
              </a:rPr>
              <a:t>告别经验估算与静态增长参数，以数智模型驱动业务量预测，赋能全行精准经营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57200" y="6217920"/>
            <a:ext cx="112745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778495"/>
                </a:solidFill>
                <a:ea typeface="微软雅黑 Light"/>
                <a:cs typeface="微软雅黑 Light"/>
                <a:latin typeface="微软雅黑 Light"/>
              </a:rPr>
              <a:t>数据来源：银行业协会 · 中信银行内部业务调研 · 历史预测准确率回测</a:t>
            </a:r>
          </a:p>
        </p:txBody>
      </p:sp>
      <p:cxnSp>
        <p:nvCxnSpPr>
          <p:cNvPr id="165" name="Connector 164"/>
          <p:cNvCxnSpPr/>
          <p:nvPr/>
        </p:nvCxnSpPr>
        <p:spPr>
          <a:xfrm>
            <a:off x="457200" y="6455664"/>
            <a:ext cx="11274552" cy="0"/>
          </a:xfrm>
          <a:prstGeom prst="line">
            <a:avLst/>
          </a:prstGeom>
          <a:ln w="952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457200" y="651052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B4593"/>
                </a:solidFill>
                <a:ea typeface="微软雅黑"/>
                <a:cs typeface="微软雅黑"/>
                <a:latin typeface="微软雅黑"/>
              </a:rPr>
              <a:t>中信银行  CITIC BANK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023360" y="651052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778495"/>
                </a:solidFill>
                <a:ea typeface="微软雅黑 Light"/>
                <a:cs typeface="微软雅黑 Light"/>
                <a:latin typeface="微软雅黑 Light"/>
              </a:rPr>
              <a:t>方案 · 业务量预测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875520" y="6510528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 i="0">
                <a:solidFill>
                  <a:srgbClr val="1B4593"/>
                </a:solidFill>
                <a:ea typeface="Arial"/>
                <a:cs typeface="Arial"/>
                <a:latin typeface="Arial"/>
              </a:rPr>
              <a:t>P 003 / 006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20624"/>
            <a:ext cx="82296" cy="566928"/>
          </a:xfrm>
          <a:prstGeom prst="rect">
            <a:avLst/>
          </a:prstGeom>
          <a:solidFill>
            <a:srgbClr val="DF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326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1" i="0">
                <a:solidFill>
                  <a:srgbClr val="1B4593"/>
                </a:solidFill>
                <a:ea typeface="微软雅黑"/>
                <a:cs typeface="微软雅黑"/>
                <a:latin typeface="微软雅黑"/>
              </a:rPr>
              <a:t>DeepTreasure 全栈自动化训练系统架构全景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42415"/>
            <a:ext cx="11274552" cy="0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528048" y="493776"/>
            <a:ext cx="220370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EAA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19488" y="493776"/>
            <a:ext cx="20208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4593"/>
                </a:solidFill>
                <a:ea typeface="微软雅黑"/>
                <a:cs typeface="微软雅黑"/>
                <a:latin typeface="微软雅黑"/>
              </a:rPr>
              <a:t>技术架构 · 自动化训练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778495"/>
                </a:solidFill>
                <a:ea typeface="微软雅黑 Light"/>
                <a:cs typeface="微软雅黑 Light"/>
                <a:latin typeface="微软雅黑 Light"/>
              </a:rPr>
              <a:t>Web 控制层 / 中后台调度层 / 核心算法与执行层 三层协同，从超参配置到模型收敛全流程自动化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11274552" cy="1243584"/>
          </a:xfrm>
          <a:prstGeom prst="roundRect">
            <a:avLst>
              <a:gd name="adj" fmla="val 4500"/>
            </a:avLst>
          </a:prstGeom>
          <a:solidFill>
            <a:srgbClr val="F1F4F7"/>
          </a:solidFill>
          <a:ln w="15875">
            <a:solidFill>
              <a:srgbClr val="041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23060"/>
            <a:ext cx="112745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Web 控制层 (Streamlit UI)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" y="1920240"/>
            <a:ext cx="2069287" cy="804672"/>
          </a:xfrm>
          <a:prstGeom prst="roundRect">
            <a:avLst>
              <a:gd name="adj" fmla="val 9000"/>
            </a:avLst>
          </a:prstGeom>
          <a:solidFill>
            <a:srgbClr val="D2D6DF"/>
          </a:solidFill>
          <a:ln w="12700">
            <a:solidFill>
              <a:srgbClr val="B2B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0519" y="2108057"/>
            <a:ext cx="420624" cy="336499"/>
          </a:xfrm>
          <a:prstGeom prst="roundRect">
            <a:avLst>
              <a:gd name="adj" fmla="val 14000"/>
            </a:avLst>
          </a:prstGeom>
          <a:solidFill>
            <a:srgbClr val="EEF7F3"/>
          </a:solidFill>
          <a:ln w="19050">
            <a:solidFill>
              <a:srgbClr val="319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0519" y="2108057"/>
            <a:ext cx="420624" cy="63093"/>
          </a:xfrm>
          <a:prstGeom prst="roundRect">
            <a:avLst>
              <a:gd name="adj" fmla="val 34000"/>
            </a:avLst>
          </a:prstGeom>
          <a:solidFill>
            <a:srgbClr val="319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519" y="2171151"/>
            <a:ext cx="420624" cy="27340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1F6B56"/>
                </a:solidFill>
                <a:ea typeface="Arial"/>
                <a:cs typeface="Arial"/>
                <a:latin typeface="Arial"/>
              </a:rPr>
              <a:t>&lt;/&gt;</a:t>
            </a:r>
          </a:p>
        </p:txBody>
      </p:sp>
      <p:sp>
        <p:nvSpPr>
          <p:cNvPr id="14" name="Gear 6 13"/>
          <p:cNvSpPr/>
          <p:nvPr/>
        </p:nvSpPr>
        <p:spPr>
          <a:xfrm>
            <a:off x="864345" y="2354122"/>
            <a:ext cx="147218" cy="147218"/>
          </a:xfrm>
          <a:prstGeom prst="gear6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5987" y="2395764"/>
            <a:ext cx="63934" cy="6393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9459" y="2167636"/>
            <a:ext cx="1325880" cy="246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262626"/>
                </a:solidFill>
                <a:ea typeface="Arial"/>
                <a:cs typeface="Arial"/>
                <a:latin typeface="Arial"/>
              </a:rPr>
              <a:t>API Configuration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9459" y="2322576"/>
            <a:ext cx="1325880" cy="246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（API 配置）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6176" y="1920240"/>
            <a:ext cx="2069287" cy="804672"/>
          </a:xfrm>
          <a:prstGeom prst="roundRect">
            <a:avLst>
              <a:gd name="adj" fmla="val 9000"/>
            </a:avLst>
          </a:prstGeom>
          <a:solidFill>
            <a:srgbClr val="D2D6DF"/>
          </a:solidFill>
          <a:ln w="12700">
            <a:solidFill>
              <a:srgbClr val="B2B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94076" y="2124882"/>
            <a:ext cx="420624" cy="39538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93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2944550" y="2196388"/>
            <a:ext cx="222931" cy="0"/>
          </a:xfrm>
          <a:prstGeom prst="line">
            <a:avLst/>
          </a:prstGeom>
          <a:ln w="33020">
            <a:solidFill>
              <a:srgbClr val="319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167481" y="2196388"/>
            <a:ext cx="96744" cy="0"/>
          </a:xfrm>
          <a:prstGeom prst="line">
            <a:avLst/>
          </a:prstGeom>
          <a:ln w="17780">
            <a:solidFill>
              <a:srgbClr val="93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119109" y="2148017"/>
            <a:ext cx="96743" cy="96743"/>
          </a:xfrm>
          <a:prstGeom prst="ellipse">
            <a:avLst/>
          </a:prstGeom>
          <a:solidFill>
            <a:srgbClr val="31907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2944550" y="2322576"/>
            <a:ext cx="79919" cy="0"/>
          </a:xfrm>
          <a:prstGeom prst="line">
            <a:avLst/>
          </a:prstGeom>
          <a:ln w="33020">
            <a:solidFill>
              <a:srgbClr val="319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024469" y="2322576"/>
            <a:ext cx="239756" cy="0"/>
          </a:xfrm>
          <a:prstGeom prst="line">
            <a:avLst/>
          </a:prstGeom>
          <a:ln w="17780">
            <a:solidFill>
              <a:srgbClr val="93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976097" y="2274204"/>
            <a:ext cx="96743" cy="96743"/>
          </a:xfrm>
          <a:prstGeom prst="ellipse">
            <a:avLst/>
          </a:prstGeom>
          <a:solidFill>
            <a:srgbClr val="31907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2944550" y="2448763"/>
            <a:ext cx="180869" cy="0"/>
          </a:xfrm>
          <a:prstGeom prst="line">
            <a:avLst/>
          </a:prstGeom>
          <a:ln w="33020">
            <a:solidFill>
              <a:srgbClr val="319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125419" y="2448763"/>
            <a:ext cx="138806" cy="0"/>
          </a:xfrm>
          <a:prstGeom prst="line">
            <a:avLst/>
          </a:prstGeom>
          <a:ln w="17780">
            <a:solidFill>
              <a:srgbClr val="93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3077047" y="2400391"/>
            <a:ext cx="96743" cy="96743"/>
          </a:xfrm>
          <a:prstGeom prst="ellipse">
            <a:avLst/>
          </a:prstGeom>
          <a:solidFill>
            <a:srgbClr val="31907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33572" y="2090166"/>
            <a:ext cx="1325880" cy="401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262626"/>
                </a:solidFill>
                <a:ea typeface="Arial"/>
                <a:cs typeface="Arial"/>
                <a:latin typeface="Arial"/>
              </a:rPr>
              <a:t>Hyperparameter
Tuning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33572" y="2400046"/>
            <a:ext cx="1325880" cy="246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（超参数调优）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60289" y="1920240"/>
            <a:ext cx="2069287" cy="804672"/>
          </a:xfrm>
          <a:prstGeom prst="roundRect">
            <a:avLst>
              <a:gd name="adj" fmla="val 9000"/>
            </a:avLst>
          </a:prstGeom>
          <a:solidFill>
            <a:srgbClr val="D2D6DF"/>
          </a:solidFill>
          <a:ln w="12700">
            <a:solidFill>
              <a:srgbClr val="B2B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5180807" y="2154326"/>
            <a:ext cx="0" cy="336499"/>
          </a:xfrm>
          <a:prstGeom prst="line">
            <a:avLst/>
          </a:prstGeom>
          <a:ln w="16510">
            <a:solidFill>
              <a:srgbClr val="9AA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180807" y="2490825"/>
            <a:ext cx="395387" cy="0"/>
          </a:xfrm>
          <a:prstGeom prst="line">
            <a:avLst/>
          </a:prstGeom>
          <a:ln w="16510">
            <a:solidFill>
              <a:srgbClr val="9AA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227076" y="2305751"/>
            <a:ext cx="100949" cy="126187"/>
          </a:xfrm>
          <a:prstGeom prst="line">
            <a:avLst/>
          </a:prstGeom>
          <a:ln w="27940">
            <a:solidFill>
              <a:srgbClr val="319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28025" y="2305751"/>
            <a:ext cx="92538" cy="75712"/>
          </a:xfrm>
          <a:prstGeom prst="line">
            <a:avLst/>
          </a:prstGeom>
          <a:ln w="27940">
            <a:solidFill>
              <a:srgbClr val="319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420563" y="2213213"/>
            <a:ext cx="84125" cy="168250"/>
          </a:xfrm>
          <a:prstGeom prst="line">
            <a:avLst/>
          </a:prstGeom>
          <a:ln w="27940">
            <a:solidFill>
              <a:srgbClr val="319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5191323" y="2396185"/>
            <a:ext cx="71506" cy="71506"/>
          </a:xfrm>
          <a:prstGeom prst="ellipse">
            <a:avLst/>
          </a:prstGeom>
          <a:solidFill>
            <a:srgbClr val="FFFFFF"/>
          </a:solidFill>
          <a:ln w="17780">
            <a:solidFill>
              <a:srgbClr val="319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92272" y="2269998"/>
            <a:ext cx="71506" cy="71506"/>
          </a:xfrm>
          <a:prstGeom prst="ellipse">
            <a:avLst/>
          </a:prstGeom>
          <a:solidFill>
            <a:srgbClr val="FFFFFF"/>
          </a:solidFill>
          <a:ln w="17780">
            <a:solidFill>
              <a:srgbClr val="319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84810" y="2345710"/>
            <a:ext cx="71506" cy="71506"/>
          </a:xfrm>
          <a:prstGeom prst="ellipse">
            <a:avLst/>
          </a:prstGeom>
          <a:solidFill>
            <a:srgbClr val="FFFFFF"/>
          </a:solidFill>
          <a:ln w="17780">
            <a:solidFill>
              <a:srgbClr val="319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68934" y="2177460"/>
            <a:ext cx="71506" cy="71506"/>
          </a:xfrm>
          <a:prstGeom prst="ellipse">
            <a:avLst/>
          </a:prstGeom>
          <a:solidFill>
            <a:srgbClr val="FFFFFF"/>
          </a:solidFill>
          <a:ln w="17780">
            <a:solidFill>
              <a:srgbClr val="319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0522" y="2169048"/>
            <a:ext cx="88331" cy="88331"/>
          </a:xfrm>
          <a:prstGeom prst="ellipse">
            <a:avLst/>
          </a:prstGeom>
          <a:solidFill>
            <a:srgbClr val="319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07684" y="2090166"/>
            <a:ext cx="1325880" cy="401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262626"/>
                </a:solidFill>
                <a:ea typeface="Arial"/>
                <a:cs typeface="Arial"/>
                <a:latin typeface="Arial"/>
              </a:rPr>
              <a:t>Live Loss
Curves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07684" y="2400046"/>
            <a:ext cx="1325880" cy="246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（实时损失曲线）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34402" y="1920240"/>
            <a:ext cx="2069287" cy="804672"/>
          </a:xfrm>
          <a:prstGeom prst="roundRect">
            <a:avLst>
              <a:gd name="adj" fmla="val 9000"/>
            </a:avLst>
          </a:prstGeom>
          <a:solidFill>
            <a:srgbClr val="D2D6DF"/>
          </a:solidFill>
          <a:ln w="12700">
            <a:solidFill>
              <a:srgbClr val="B2B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417064" y="2318369"/>
            <a:ext cx="222930" cy="235550"/>
          </a:xfrm>
          <a:custGeom>
            <a:avLst/>
            <a:gdLst/>
            <a:ahLst/>
            <a:cxnLst/>
            <a:rect l="l" t="t" r="r" b="b"/>
            <a:pathLst>
              <a:path w="222930" h="235550">
                <a:moveTo>
                  <a:pt x="0" y="0"/>
                </a:moveTo>
                <a:lnTo>
                  <a:pt x="222930" y="42063"/>
                </a:lnTo>
                <a:lnTo>
                  <a:pt x="222930" y="235550"/>
                </a:lnTo>
                <a:lnTo>
                  <a:pt x="0" y="193487"/>
                </a:lnTo>
                <a:close/>
              </a:path>
            </a:pathLst>
          </a:custGeom>
          <a:solidFill>
            <a:srgbClr val="D9ECE6"/>
          </a:solidFill>
          <a:ln w="19050">
            <a:solidFill>
              <a:srgbClr val="319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7639994" y="2318369"/>
            <a:ext cx="197694" cy="235550"/>
          </a:xfrm>
          <a:custGeom>
            <a:avLst/>
            <a:gdLst/>
            <a:ahLst/>
            <a:cxnLst/>
            <a:rect l="l" t="t" r="r" b="b"/>
            <a:pathLst>
              <a:path w="197694" h="235550">
                <a:moveTo>
                  <a:pt x="0" y="42063"/>
                </a:moveTo>
                <a:lnTo>
                  <a:pt x="197694" y="0"/>
                </a:lnTo>
                <a:lnTo>
                  <a:pt x="197694" y="193487"/>
                </a:lnTo>
                <a:lnTo>
                  <a:pt x="0" y="235550"/>
                </a:lnTo>
                <a:close/>
              </a:path>
            </a:pathLst>
          </a:custGeom>
          <a:solidFill>
            <a:srgbClr val="D9ECE6"/>
          </a:solidFill>
          <a:ln w="19050">
            <a:solidFill>
              <a:srgbClr val="319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7639994" y="2360432"/>
            <a:ext cx="0" cy="193487"/>
          </a:xfrm>
          <a:prstGeom prst="line">
            <a:avLst/>
          </a:prstGeom>
          <a:ln w="19050">
            <a:solidFill>
              <a:srgbClr val="319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7669438" y="2124882"/>
            <a:ext cx="218724" cy="168249"/>
          </a:xfrm>
          <a:prstGeom prst="ellipse">
            <a:avLst/>
          </a:prstGeom>
          <a:solidFill>
            <a:srgbClr val="FFFFFF"/>
          </a:solidFill>
          <a:ln w="17780">
            <a:solidFill>
              <a:srgbClr val="319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69438" y="2124882"/>
            <a:ext cx="218724" cy="1682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319074"/>
                </a:solidFill>
                <a:ea typeface="Arial"/>
                <a:cs typeface="Arial"/>
                <a:latin typeface="Arial"/>
              </a:rPr>
              <a:t>...</a:t>
            </a:r>
          </a:p>
        </p:txBody>
      </p:sp>
      <p:sp>
        <p:nvSpPr>
          <p:cNvPr id="50" name="Freeform 49"/>
          <p:cNvSpPr/>
          <p:nvPr/>
        </p:nvSpPr>
        <p:spPr>
          <a:xfrm>
            <a:off x="7677851" y="2288926"/>
            <a:ext cx="54681" cy="58887"/>
          </a:xfrm>
          <a:custGeom>
            <a:avLst/>
            <a:gdLst/>
            <a:ahLst/>
            <a:cxnLst/>
            <a:rect l="l" t="t" r="r" b="b"/>
            <a:pathLst>
              <a:path w="54681" h="58887">
                <a:moveTo>
                  <a:pt x="4206" y="0"/>
                </a:moveTo>
                <a:lnTo>
                  <a:pt x="54681" y="0"/>
                </a:lnTo>
                <a:lnTo>
                  <a:pt x="0" y="58887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319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81797" y="2090166"/>
            <a:ext cx="1325880" cy="401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262626"/>
                </a:solidFill>
                <a:ea typeface="Arial"/>
                <a:cs typeface="Arial"/>
                <a:latin typeface="Arial"/>
              </a:rPr>
              <a:t>Agent Thought
Logs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81797" y="2400046"/>
            <a:ext cx="1325880" cy="246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（智能体思维日志）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08515" y="1920240"/>
            <a:ext cx="2069287" cy="804672"/>
          </a:xfrm>
          <a:prstGeom prst="roundRect">
            <a:avLst>
              <a:gd name="adj" fmla="val 9000"/>
            </a:avLst>
          </a:prstGeom>
          <a:solidFill>
            <a:srgbClr val="D2D6DF"/>
          </a:solidFill>
          <a:ln w="12700">
            <a:solidFill>
              <a:srgbClr val="B2B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623877" y="2179563"/>
            <a:ext cx="218724" cy="30284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rgbClr val="319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9665939" y="2255276"/>
            <a:ext cx="134600" cy="0"/>
          </a:xfrm>
          <a:prstGeom prst="line">
            <a:avLst/>
          </a:prstGeom>
          <a:ln w="19050">
            <a:solidFill>
              <a:srgbClr val="93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665939" y="2326782"/>
            <a:ext cx="134600" cy="0"/>
          </a:xfrm>
          <a:prstGeom prst="line">
            <a:avLst/>
          </a:prstGeom>
          <a:ln w="19050">
            <a:solidFill>
              <a:srgbClr val="93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665939" y="2398288"/>
            <a:ext cx="134600" cy="0"/>
          </a:xfrm>
          <a:prstGeom prst="line">
            <a:avLst/>
          </a:prstGeom>
          <a:ln w="19050">
            <a:solidFill>
              <a:srgbClr val="93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863632" y="2297338"/>
            <a:ext cx="109363" cy="0"/>
          </a:xfrm>
          <a:prstGeom prst="line">
            <a:avLst/>
          </a:prstGeom>
          <a:ln w="22860">
            <a:solidFill>
              <a:srgbClr val="319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Isosceles Triangle 58"/>
          <p:cNvSpPr/>
          <p:nvPr/>
        </p:nvSpPr>
        <p:spPr>
          <a:xfrm rot="5400000">
            <a:off x="9928829" y="2257379"/>
            <a:ext cx="63934" cy="79918"/>
          </a:xfrm>
          <a:prstGeom prst="triangle">
            <a:avLst/>
          </a:prstGeom>
          <a:solidFill>
            <a:srgbClr val="319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0010851" y="2213213"/>
            <a:ext cx="218724" cy="302849"/>
          </a:xfrm>
          <a:prstGeom prst="roundRect">
            <a:avLst>
              <a:gd name="adj" fmla="val 10000"/>
            </a:avLst>
          </a:prstGeom>
          <a:solidFill>
            <a:srgbClr val="319074"/>
          </a:solidFill>
          <a:ln w="15240">
            <a:solidFill>
              <a:srgbClr val="1F6B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0052913" y="2288926"/>
            <a:ext cx="13460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052913" y="2360432"/>
            <a:ext cx="13460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052913" y="2431938"/>
            <a:ext cx="13460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0255910" y="2167636"/>
            <a:ext cx="1325880" cy="246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262626"/>
                </a:solidFill>
                <a:ea typeface="Arial"/>
                <a:cs typeface="Arial"/>
                <a:latin typeface="Arial"/>
              </a:rPr>
              <a:t>Code Diff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55910" y="2322576"/>
            <a:ext cx="1325880" cy="246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（代码差异对比）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57200" y="2971800"/>
            <a:ext cx="11274552" cy="1225296"/>
          </a:xfrm>
          <a:prstGeom prst="roundRect">
            <a:avLst>
              <a:gd name="adj" fmla="val 4500"/>
            </a:avLst>
          </a:prstGeom>
          <a:solidFill>
            <a:srgbClr val="F1F4F7"/>
          </a:solidFill>
          <a:ln w="15875">
            <a:solidFill>
              <a:srgbClr val="041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3040380"/>
            <a:ext cx="112745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中后台调度层 (FastAPI + CrewAI Flows)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12064" y="3337560"/>
            <a:ext cx="2259482" cy="786384"/>
          </a:xfrm>
          <a:prstGeom prst="roundRect">
            <a:avLst>
              <a:gd name="adj" fmla="val 9000"/>
            </a:avLst>
          </a:prstGeom>
          <a:solidFill>
            <a:srgbClr val="D2D6DF"/>
          </a:solidFill>
          <a:ln w="12700">
            <a:solidFill>
              <a:srgbClr val="319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 flipH="1">
            <a:off x="724204" y="3563965"/>
            <a:ext cx="136063" cy="355519"/>
          </a:xfrm>
          <a:prstGeom prst="line">
            <a:avLst/>
          </a:prstGeom>
          <a:ln w="55880">
            <a:solidFill>
              <a:srgbClr val="1B33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95380" y="3563965"/>
            <a:ext cx="136063" cy="355519"/>
          </a:xfrm>
          <a:prstGeom prst="line">
            <a:avLst/>
          </a:prstGeom>
          <a:ln w="55880">
            <a:solidFill>
              <a:srgbClr val="1B33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41761" y="3761475"/>
            <a:ext cx="272125" cy="0"/>
          </a:xfrm>
          <a:prstGeom prst="line">
            <a:avLst/>
          </a:prstGeom>
          <a:ln w="25400">
            <a:solidFill>
              <a:srgbClr val="93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814181" y="3460821"/>
            <a:ext cx="127284" cy="127284"/>
          </a:xfrm>
          <a:prstGeom prst="ellipse">
            <a:avLst/>
          </a:prstGeom>
          <a:solidFill>
            <a:srgbClr val="319074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84702" y="3910705"/>
            <a:ext cx="79004" cy="79004"/>
          </a:xfrm>
          <a:prstGeom prst="ellipse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91941" y="3910705"/>
            <a:ext cx="79004" cy="79004"/>
          </a:xfrm>
          <a:prstGeom prst="ellipse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243584" y="3498342"/>
            <a:ext cx="1417320" cy="401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262626"/>
                </a:solidFill>
                <a:ea typeface="Arial"/>
                <a:cs typeface="Arial"/>
                <a:latin typeface="Arial"/>
              </a:rPr>
              <a:t>Domain
Architect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43584" y="3808222"/>
            <a:ext cx="1417320" cy="246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（领域架构师）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481120" y="3337560"/>
            <a:ext cx="2259482" cy="786384"/>
          </a:xfrm>
          <a:prstGeom prst="roundRect">
            <a:avLst>
              <a:gd name="adj" fmla="val 9000"/>
            </a:avLst>
          </a:prstGeom>
          <a:solidFill>
            <a:srgbClr val="D2D6DF"/>
          </a:solidFill>
          <a:ln w="12700">
            <a:solidFill>
              <a:srgbClr val="319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3627424" y="3757086"/>
            <a:ext cx="438912" cy="179953"/>
          </a:xfrm>
          <a:prstGeom prst="roundRect">
            <a:avLst>
              <a:gd name="adj" fmla="val 16000"/>
            </a:avLst>
          </a:prstGeom>
          <a:solidFill>
            <a:srgbClr val="1B3355"/>
          </a:solidFill>
          <a:ln w="12700">
            <a:solidFill>
              <a:srgbClr val="1B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3666926" y="3787810"/>
            <a:ext cx="57058" cy="48280"/>
          </a:xfrm>
          <a:prstGeom prst="roundRect">
            <a:avLst>
              <a:gd name="adj" fmla="val 20000"/>
            </a:avLst>
          </a:prstGeom>
          <a:solidFill>
            <a:srgbClr val="93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3741541" y="3787810"/>
            <a:ext cx="57058" cy="48280"/>
          </a:xfrm>
          <a:prstGeom prst="roundRect">
            <a:avLst>
              <a:gd name="adj" fmla="val 20000"/>
            </a:avLst>
          </a:prstGeom>
          <a:solidFill>
            <a:srgbClr val="93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3816156" y="3787810"/>
            <a:ext cx="57058" cy="48280"/>
          </a:xfrm>
          <a:prstGeom prst="roundRect">
            <a:avLst>
              <a:gd name="adj" fmla="val 20000"/>
            </a:avLst>
          </a:prstGeom>
          <a:solidFill>
            <a:srgbClr val="93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3890772" y="3787810"/>
            <a:ext cx="57058" cy="48280"/>
          </a:xfrm>
          <a:prstGeom prst="roundRect">
            <a:avLst>
              <a:gd name="adj" fmla="val 20000"/>
            </a:avLst>
          </a:prstGeom>
          <a:solidFill>
            <a:srgbClr val="93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3965387" y="3787810"/>
            <a:ext cx="57058" cy="48280"/>
          </a:xfrm>
          <a:prstGeom prst="roundRect">
            <a:avLst>
              <a:gd name="adj" fmla="val 20000"/>
            </a:avLst>
          </a:prstGeom>
          <a:solidFill>
            <a:srgbClr val="93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3666926" y="3853647"/>
            <a:ext cx="57058" cy="48280"/>
          </a:xfrm>
          <a:prstGeom prst="roundRect">
            <a:avLst>
              <a:gd name="adj" fmla="val 20000"/>
            </a:avLst>
          </a:prstGeom>
          <a:solidFill>
            <a:srgbClr val="93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3890772" y="3853647"/>
            <a:ext cx="57058" cy="48280"/>
          </a:xfrm>
          <a:prstGeom prst="roundRect">
            <a:avLst>
              <a:gd name="adj" fmla="val 20000"/>
            </a:avLst>
          </a:prstGeom>
          <a:solidFill>
            <a:srgbClr val="93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3965387" y="3853647"/>
            <a:ext cx="57058" cy="48280"/>
          </a:xfrm>
          <a:prstGeom prst="roundRect">
            <a:avLst>
              <a:gd name="adj" fmla="val 20000"/>
            </a:avLst>
          </a:prstGeom>
          <a:solidFill>
            <a:srgbClr val="93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3719596" y="3484961"/>
            <a:ext cx="298460" cy="263347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319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3719596" y="3484961"/>
            <a:ext cx="298460" cy="71981"/>
          </a:xfrm>
          <a:prstGeom prst="roundRect">
            <a:avLst>
              <a:gd name="adj" fmla="val 30000"/>
            </a:avLst>
          </a:prstGeom>
          <a:solidFill>
            <a:srgbClr val="319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719596" y="3520074"/>
            <a:ext cx="298460" cy="2106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1F6B56"/>
                </a:solidFill>
                <a:ea typeface="Arial"/>
                <a:cs typeface="Arial"/>
                <a:latin typeface="Arial"/>
              </a:rPr>
              <a:t>&lt;/&gt;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12640" y="3575812"/>
            <a:ext cx="1417320" cy="246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262626"/>
                </a:solidFill>
                <a:ea typeface="Arial"/>
                <a:cs typeface="Arial"/>
                <a:latin typeface="Arial"/>
              </a:rPr>
              <a:t>PyTorch Coder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12640" y="3730752"/>
            <a:ext cx="1417320" cy="246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（PyTorch 编码员）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450177" y="3337560"/>
            <a:ext cx="2259482" cy="786384"/>
          </a:xfrm>
          <a:prstGeom prst="roundRect">
            <a:avLst>
              <a:gd name="adj" fmla="val 9000"/>
            </a:avLst>
          </a:prstGeom>
          <a:solidFill>
            <a:srgbClr val="D2D6DF"/>
          </a:solidFill>
          <a:ln w="12700">
            <a:solidFill>
              <a:srgbClr val="319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>
            <a:off x="6539423" y="3629802"/>
            <a:ext cx="100949" cy="0"/>
          </a:xfrm>
          <a:prstGeom prst="line">
            <a:avLst/>
          </a:prstGeom>
          <a:ln w="27940">
            <a:solidFill>
              <a:srgbClr val="D9E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539423" y="3717584"/>
            <a:ext cx="83393" cy="0"/>
          </a:xfrm>
          <a:prstGeom prst="line">
            <a:avLst/>
          </a:prstGeom>
          <a:ln w="27940">
            <a:solidFill>
              <a:srgbClr val="D9E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539423" y="3805367"/>
            <a:ext cx="65836" cy="0"/>
          </a:xfrm>
          <a:prstGeom prst="line">
            <a:avLst/>
          </a:prstGeom>
          <a:ln w="27940">
            <a:solidFill>
              <a:srgbClr val="D9E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Oval 95"/>
          <p:cNvSpPr/>
          <p:nvPr/>
        </p:nvSpPr>
        <p:spPr>
          <a:xfrm>
            <a:off x="6739128" y="3452042"/>
            <a:ext cx="127284" cy="127284"/>
          </a:xfrm>
          <a:prstGeom prst="ellipse">
            <a:avLst/>
          </a:prstGeom>
          <a:solidFill>
            <a:srgbClr val="319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6776435" y="3603467"/>
            <a:ext cx="70226" cy="166787"/>
          </a:xfrm>
          <a:prstGeom prst="line">
            <a:avLst/>
          </a:prstGeom>
          <a:ln w="58419">
            <a:solidFill>
              <a:srgbClr val="319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6679874" y="3642969"/>
            <a:ext cx="136063" cy="92172"/>
          </a:xfrm>
          <a:prstGeom prst="line">
            <a:avLst/>
          </a:prstGeom>
          <a:ln w="40640">
            <a:solidFill>
              <a:srgbClr val="319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815937" y="3550798"/>
            <a:ext cx="127285" cy="92171"/>
          </a:xfrm>
          <a:prstGeom prst="line">
            <a:avLst/>
          </a:prstGeom>
          <a:ln w="40640">
            <a:solidFill>
              <a:srgbClr val="319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6846661" y="3770254"/>
            <a:ext cx="140452" cy="140451"/>
          </a:xfrm>
          <a:prstGeom prst="line">
            <a:avLst/>
          </a:prstGeom>
          <a:ln w="45720">
            <a:solidFill>
              <a:srgbClr val="319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6688653" y="3770254"/>
            <a:ext cx="158008" cy="149230"/>
          </a:xfrm>
          <a:prstGeom prst="line">
            <a:avLst/>
          </a:prstGeom>
          <a:ln w="45720">
            <a:solidFill>
              <a:srgbClr val="319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7181697" y="3498342"/>
            <a:ext cx="1417320" cy="401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262626"/>
                </a:solidFill>
                <a:ea typeface="Arial"/>
                <a:cs typeface="Arial"/>
                <a:latin typeface="Arial"/>
              </a:rPr>
              <a:t>Execution
Runner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181697" y="3808222"/>
            <a:ext cx="1417320" cy="246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（执行运行者）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419234" y="3337560"/>
            <a:ext cx="2259482" cy="786384"/>
          </a:xfrm>
          <a:prstGeom prst="roundRect">
            <a:avLst>
              <a:gd name="adj" fmla="val 9000"/>
            </a:avLst>
          </a:prstGeom>
          <a:solidFill>
            <a:srgbClr val="D2D6DF"/>
          </a:solidFill>
          <a:ln w="12700">
            <a:solidFill>
              <a:srgbClr val="319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9863998" y="3809756"/>
            <a:ext cx="171176" cy="171175"/>
          </a:xfrm>
          <a:prstGeom prst="line">
            <a:avLst/>
          </a:prstGeom>
          <a:ln w="68580">
            <a:solidFill>
              <a:srgbClr val="1B33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9464588" y="3458626"/>
            <a:ext cx="368686" cy="368686"/>
          </a:xfrm>
          <a:prstGeom prst="ellipse">
            <a:avLst/>
          </a:prstGeom>
          <a:solidFill>
            <a:srgbClr val="FFFFFF"/>
          </a:solidFill>
          <a:ln w="33020">
            <a:solidFill>
              <a:srgbClr val="319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464588" y="3458626"/>
            <a:ext cx="368686" cy="36868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319074"/>
                </a:solidFill>
                <a:ea typeface="微软雅黑"/>
                <a:cs typeface="微软雅黑"/>
                <a:latin typeface="微软雅黑"/>
              </a:rPr>
              <a:t>✓</a:t>
            </a:r>
          </a:p>
        </p:txBody>
      </p:sp>
      <p:sp>
        <p:nvSpPr>
          <p:cNvPr id="108" name="Oval 107"/>
          <p:cNvSpPr/>
          <p:nvPr/>
        </p:nvSpPr>
        <p:spPr>
          <a:xfrm>
            <a:off x="9872776" y="3498128"/>
            <a:ext cx="188732" cy="188732"/>
          </a:xfrm>
          <a:prstGeom prst="ellipse">
            <a:avLst/>
          </a:prstGeom>
          <a:solidFill>
            <a:srgbClr val="319074"/>
          </a:solidFill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872776" y="3498128"/>
            <a:ext cx="188732" cy="1887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ea typeface="微软雅黑"/>
                <a:cs typeface="微软雅黑"/>
                <a:latin typeface="微软雅黑"/>
              </a:rPr>
              <a:t>✓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150754" y="3498342"/>
            <a:ext cx="1417320" cy="401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262626"/>
                </a:solidFill>
                <a:ea typeface="Arial"/>
                <a:cs typeface="Arial"/>
                <a:latin typeface="Arial"/>
              </a:rPr>
              <a:t>Convergence
Auditor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150754" y="3808222"/>
            <a:ext cx="1417320" cy="246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（收敛审计员）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57200" y="4370832"/>
            <a:ext cx="11274552" cy="1225296"/>
          </a:xfrm>
          <a:prstGeom prst="roundRect">
            <a:avLst>
              <a:gd name="adj" fmla="val 4500"/>
            </a:avLst>
          </a:prstGeom>
          <a:solidFill>
            <a:srgbClr val="F1F4F7"/>
          </a:solidFill>
          <a:ln w="15875">
            <a:solidFill>
              <a:srgbClr val="041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57200" y="4439412"/>
            <a:ext cx="112745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核心算法与执行层 (PyTorch Engine)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12064" y="4736592"/>
            <a:ext cx="3610051" cy="786384"/>
          </a:xfrm>
          <a:prstGeom prst="roundRect">
            <a:avLst>
              <a:gd name="adj" fmla="val 9000"/>
            </a:avLst>
          </a:prstGeom>
          <a:solidFill>
            <a:srgbClr val="D2D6DF"/>
          </a:solidFill>
          <a:ln w="12700">
            <a:solidFill>
              <a:srgbClr val="319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886053" y="4801422"/>
            <a:ext cx="41697" cy="57333"/>
          </a:xfrm>
          <a:prstGeom prst="line">
            <a:avLst/>
          </a:prstGeom>
          <a:ln w="22860">
            <a:solidFill>
              <a:srgbClr val="319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859993" y="4858755"/>
            <a:ext cx="67757" cy="62545"/>
          </a:xfrm>
          <a:prstGeom prst="line">
            <a:avLst/>
          </a:prstGeom>
          <a:ln w="22860">
            <a:solidFill>
              <a:srgbClr val="319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042416" y="4801422"/>
            <a:ext cx="41696" cy="57333"/>
          </a:xfrm>
          <a:prstGeom prst="line">
            <a:avLst/>
          </a:prstGeom>
          <a:ln w="22860">
            <a:solidFill>
              <a:srgbClr val="319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H="1">
            <a:off x="1016355" y="4858755"/>
            <a:ext cx="67757" cy="62545"/>
          </a:xfrm>
          <a:prstGeom prst="line">
            <a:avLst/>
          </a:prstGeom>
          <a:ln w="22860">
            <a:solidFill>
              <a:srgbClr val="319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198778" y="4801422"/>
            <a:ext cx="41697" cy="57333"/>
          </a:xfrm>
          <a:prstGeom prst="line">
            <a:avLst/>
          </a:prstGeom>
          <a:ln w="22860">
            <a:solidFill>
              <a:srgbClr val="319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H="1">
            <a:off x="1172718" y="4858755"/>
            <a:ext cx="67757" cy="62545"/>
          </a:xfrm>
          <a:prstGeom prst="line">
            <a:avLst/>
          </a:prstGeom>
          <a:ln w="22860">
            <a:solidFill>
              <a:srgbClr val="319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/>
          <p:cNvSpPr/>
          <p:nvPr/>
        </p:nvSpPr>
        <p:spPr>
          <a:xfrm>
            <a:off x="719267" y="4968209"/>
            <a:ext cx="542056" cy="416966"/>
          </a:xfrm>
          <a:prstGeom prst="roundRect">
            <a:avLst>
              <a:gd name="adj" fmla="val 10000"/>
            </a:avLst>
          </a:prstGeom>
          <a:solidFill>
            <a:srgbClr val="1B3355"/>
          </a:solidFill>
          <a:ln w="12700">
            <a:solidFill>
              <a:srgbClr val="1B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766175" y="5035966"/>
            <a:ext cx="448239" cy="0"/>
          </a:xfrm>
          <a:prstGeom prst="line">
            <a:avLst/>
          </a:prstGeom>
          <a:ln w="13970">
            <a:solidFill>
              <a:srgbClr val="93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66175" y="5176692"/>
            <a:ext cx="448239" cy="0"/>
          </a:xfrm>
          <a:prstGeom prst="line">
            <a:avLst/>
          </a:prstGeom>
          <a:ln w="13970">
            <a:solidFill>
              <a:srgbClr val="93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766175" y="5317418"/>
            <a:ext cx="448239" cy="0"/>
          </a:xfrm>
          <a:prstGeom prst="line">
            <a:avLst/>
          </a:prstGeom>
          <a:ln w="13970">
            <a:solidFill>
              <a:srgbClr val="93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Oval 124"/>
          <p:cNvSpPr/>
          <p:nvPr/>
        </p:nvSpPr>
        <p:spPr>
          <a:xfrm>
            <a:off x="833932" y="5103723"/>
            <a:ext cx="208483" cy="208483"/>
          </a:xfrm>
          <a:prstGeom prst="ellipse">
            <a:avLst/>
          </a:prstGeom>
          <a:solidFill>
            <a:srgbClr val="D9ECE6"/>
          </a:solidFill>
          <a:ln w="16510">
            <a:solidFill>
              <a:srgbClr val="319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901689" y="5171480"/>
            <a:ext cx="72969" cy="72969"/>
          </a:xfrm>
          <a:prstGeom prst="ellipse">
            <a:avLst/>
          </a:prstGeom>
          <a:solidFill>
            <a:srgbClr val="319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115385" y="5103723"/>
            <a:ext cx="208483" cy="208483"/>
          </a:xfrm>
          <a:prstGeom prst="ellipse">
            <a:avLst/>
          </a:prstGeom>
          <a:solidFill>
            <a:srgbClr val="D9ECE6"/>
          </a:solidFill>
          <a:ln w="16510">
            <a:solidFill>
              <a:srgbClr val="319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83142" y="5171480"/>
            <a:ext cx="72969" cy="72969"/>
          </a:xfrm>
          <a:prstGeom prst="ellipse">
            <a:avLst/>
          </a:prstGeom>
          <a:solidFill>
            <a:srgbClr val="319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1266535" y="5098511"/>
            <a:ext cx="99029" cy="250179"/>
          </a:xfrm>
          <a:prstGeom prst="roundRect">
            <a:avLst>
              <a:gd name="adj" fmla="val 16000"/>
            </a:avLst>
          </a:prstGeom>
          <a:solidFill>
            <a:srgbClr val="319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408176" y="4974844"/>
            <a:ext cx="2512771" cy="246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00" b="1" i="0">
                <a:solidFill>
                  <a:srgbClr val="262626"/>
                </a:solidFill>
                <a:ea typeface="Arial"/>
                <a:cs typeface="Arial"/>
                <a:latin typeface="Arial"/>
              </a:rPr>
              <a:t>GPU Smoke Training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408176" y="5129784"/>
            <a:ext cx="2512771" cy="246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（GPU 冒烟训练）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4289450" y="4736592"/>
            <a:ext cx="3610051" cy="786384"/>
          </a:xfrm>
          <a:prstGeom prst="roundRect">
            <a:avLst>
              <a:gd name="adj" fmla="val 9000"/>
            </a:avLst>
          </a:prstGeom>
          <a:solidFill>
            <a:srgbClr val="D2D6DF"/>
          </a:solidFill>
          <a:ln w="12700">
            <a:solidFill>
              <a:srgbClr val="319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3" name="Connector 132"/>
          <p:cNvCxnSpPr/>
          <p:nvPr/>
        </p:nvCxnSpPr>
        <p:spPr>
          <a:xfrm flipV="1">
            <a:off x="4533138" y="4931724"/>
            <a:ext cx="271028" cy="26061"/>
          </a:xfrm>
          <a:prstGeom prst="line">
            <a:avLst/>
          </a:prstGeom>
          <a:ln w="12700">
            <a:solidFill>
              <a:srgbClr val="D9E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4533138" y="4957785"/>
            <a:ext cx="291876" cy="177211"/>
          </a:xfrm>
          <a:prstGeom prst="line">
            <a:avLst/>
          </a:prstGeom>
          <a:ln w="12700">
            <a:solidFill>
              <a:srgbClr val="D9E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4533138" y="4957785"/>
            <a:ext cx="260604" cy="370058"/>
          </a:xfrm>
          <a:prstGeom prst="line">
            <a:avLst/>
          </a:prstGeom>
          <a:ln w="12700">
            <a:solidFill>
              <a:srgbClr val="D9E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4512289" y="4931724"/>
            <a:ext cx="291877" cy="208484"/>
          </a:xfrm>
          <a:prstGeom prst="line">
            <a:avLst/>
          </a:prstGeom>
          <a:ln w="12700">
            <a:solidFill>
              <a:srgbClr val="D9E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4512289" y="5134996"/>
            <a:ext cx="312725" cy="5212"/>
          </a:xfrm>
          <a:prstGeom prst="line">
            <a:avLst/>
          </a:prstGeom>
          <a:ln w="12700">
            <a:solidFill>
              <a:srgbClr val="D9E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4512289" y="5140208"/>
            <a:ext cx="281453" cy="187635"/>
          </a:xfrm>
          <a:prstGeom prst="line">
            <a:avLst/>
          </a:prstGeom>
          <a:ln w="12700">
            <a:solidFill>
              <a:srgbClr val="D9E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4543562" y="4931724"/>
            <a:ext cx="260604" cy="390906"/>
          </a:xfrm>
          <a:prstGeom prst="line">
            <a:avLst/>
          </a:prstGeom>
          <a:ln w="12700">
            <a:solidFill>
              <a:srgbClr val="D9E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4543562" y="5134996"/>
            <a:ext cx="281452" cy="187634"/>
          </a:xfrm>
          <a:prstGeom prst="line">
            <a:avLst/>
          </a:prstGeom>
          <a:ln w="12700">
            <a:solidFill>
              <a:srgbClr val="D9E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4543562" y="5322630"/>
            <a:ext cx="250180" cy="5213"/>
          </a:xfrm>
          <a:prstGeom prst="line">
            <a:avLst/>
          </a:prstGeom>
          <a:ln w="12700">
            <a:solidFill>
              <a:srgbClr val="D9E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Oval 141"/>
          <p:cNvSpPr/>
          <p:nvPr/>
        </p:nvSpPr>
        <p:spPr>
          <a:xfrm>
            <a:off x="4481017" y="4905664"/>
            <a:ext cx="104241" cy="104241"/>
          </a:xfrm>
          <a:prstGeom prst="ellipse">
            <a:avLst/>
          </a:prstGeom>
          <a:solidFill>
            <a:srgbClr val="EEF7F3"/>
          </a:solidFill>
          <a:ln w="15240">
            <a:solidFill>
              <a:srgbClr val="319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4460168" y="5088087"/>
            <a:ext cx="104241" cy="104241"/>
          </a:xfrm>
          <a:prstGeom prst="ellipse">
            <a:avLst/>
          </a:prstGeom>
          <a:solidFill>
            <a:srgbClr val="EEF7F3"/>
          </a:solidFill>
          <a:ln w="15240">
            <a:solidFill>
              <a:srgbClr val="319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4491441" y="5270510"/>
            <a:ext cx="104241" cy="104241"/>
          </a:xfrm>
          <a:prstGeom prst="ellipse">
            <a:avLst/>
          </a:prstGeom>
          <a:solidFill>
            <a:srgbClr val="EEF7F3"/>
          </a:solidFill>
          <a:ln w="15240">
            <a:solidFill>
              <a:srgbClr val="319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4752045" y="4879604"/>
            <a:ext cx="104241" cy="104241"/>
          </a:xfrm>
          <a:prstGeom prst="ellipse">
            <a:avLst/>
          </a:prstGeom>
          <a:solidFill>
            <a:srgbClr val="319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4772893" y="5082875"/>
            <a:ext cx="104241" cy="104241"/>
          </a:xfrm>
          <a:prstGeom prst="ellipse">
            <a:avLst/>
          </a:prstGeom>
          <a:solidFill>
            <a:srgbClr val="319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4741621" y="5275722"/>
            <a:ext cx="104241" cy="104241"/>
          </a:xfrm>
          <a:prstGeom prst="ellipse">
            <a:avLst/>
          </a:prstGeom>
          <a:solidFill>
            <a:srgbClr val="319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Connector 147"/>
          <p:cNvCxnSpPr/>
          <p:nvPr/>
        </p:nvCxnSpPr>
        <p:spPr>
          <a:xfrm>
            <a:off x="4939680" y="5098511"/>
            <a:ext cx="145938" cy="0"/>
          </a:xfrm>
          <a:prstGeom prst="line">
            <a:avLst/>
          </a:prstGeom>
          <a:ln w="25400">
            <a:solidFill>
              <a:srgbClr val="319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Isosceles Triangle 148"/>
          <p:cNvSpPr/>
          <p:nvPr/>
        </p:nvSpPr>
        <p:spPr>
          <a:xfrm rot="5400000">
            <a:off x="5064770" y="5046390"/>
            <a:ext cx="83393" cy="104241"/>
          </a:xfrm>
          <a:prstGeom prst="triangle">
            <a:avLst/>
          </a:prstGeom>
          <a:solidFill>
            <a:srgbClr val="319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185562" y="4897374"/>
            <a:ext cx="2512771" cy="401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00" b="1" i="0">
                <a:solidFill>
                  <a:srgbClr val="262626"/>
                </a:solidFill>
                <a:ea typeface="Arial"/>
                <a:cs typeface="Arial"/>
                <a:latin typeface="Arial"/>
              </a:rPr>
              <a:t>PyTorch Autograd
Graph Monitoring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185562" y="5207254"/>
            <a:ext cx="2512771" cy="246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（PyTorch 自动微分图监控）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8066836" y="4736592"/>
            <a:ext cx="3610051" cy="786384"/>
          </a:xfrm>
          <a:prstGeom prst="roundRect">
            <a:avLst>
              <a:gd name="adj" fmla="val 9000"/>
            </a:avLst>
          </a:prstGeom>
          <a:solidFill>
            <a:srgbClr val="D2D6DF"/>
          </a:solidFill>
          <a:ln w="12700">
            <a:solidFill>
              <a:srgbClr val="319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ear 6 152"/>
          <p:cNvSpPr/>
          <p:nvPr/>
        </p:nvSpPr>
        <p:spPr>
          <a:xfrm>
            <a:off x="8180222" y="4790998"/>
            <a:ext cx="229331" cy="229331"/>
          </a:xfrm>
          <a:prstGeom prst="gear6">
            <a:avLst/>
          </a:prstGeom>
          <a:solidFill>
            <a:srgbClr val="D9ECE6"/>
          </a:solidFill>
          <a:ln w="16510">
            <a:solidFill>
              <a:srgbClr val="319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ear 6 153"/>
          <p:cNvSpPr/>
          <p:nvPr/>
        </p:nvSpPr>
        <p:spPr>
          <a:xfrm>
            <a:off x="8383493" y="4796210"/>
            <a:ext cx="343997" cy="343997"/>
          </a:xfrm>
          <a:prstGeom prst="gear6">
            <a:avLst/>
          </a:prstGeom>
          <a:solidFill>
            <a:srgbClr val="D9ECE6"/>
          </a:solidFill>
          <a:ln w="17780">
            <a:solidFill>
              <a:srgbClr val="319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8503371" y="4916088"/>
            <a:ext cx="104241" cy="104241"/>
          </a:xfrm>
          <a:prstGeom prst="ellipse">
            <a:avLst/>
          </a:prstGeom>
          <a:solidFill>
            <a:srgbClr val="319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8268827" y="5114147"/>
            <a:ext cx="140726" cy="343997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319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8283421" y="5265506"/>
            <a:ext cx="111538" cy="185758"/>
          </a:xfrm>
          <a:prstGeom prst="roundRect">
            <a:avLst>
              <a:gd name="adj" fmla="val 35000"/>
            </a:avLst>
          </a:prstGeom>
          <a:solidFill>
            <a:srgbClr val="319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8" name="Connector 157"/>
          <p:cNvCxnSpPr/>
          <p:nvPr/>
        </p:nvCxnSpPr>
        <p:spPr>
          <a:xfrm>
            <a:off x="8237555" y="5114147"/>
            <a:ext cx="203271" cy="0"/>
          </a:xfrm>
          <a:prstGeom prst="line">
            <a:avLst/>
          </a:prstGeom>
          <a:ln w="20320">
            <a:solidFill>
              <a:srgbClr val="319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Oval 158"/>
          <p:cNvSpPr/>
          <p:nvPr/>
        </p:nvSpPr>
        <p:spPr>
          <a:xfrm>
            <a:off x="8748339" y="5187116"/>
            <a:ext cx="260603" cy="260603"/>
          </a:xfrm>
          <a:prstGeom prst="ellipse">
            <a:avLst/>
          </a:prstGeom>
          <a:solidFill>
            <a:srgbClr val="319074"/>
          </a:solidFill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748339" y="5187116"/>
            <a:ext cx="260603" cy="2606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ea typeface="微软雅黑"/>
                <a:cs typeface="微软雅黑"/>
                <a:latin typeface="微软雅黑"/>
              </a:rPr>
              <a:t>✓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962948" y="4974844"/>
            <a:ext cx="2512771" cy="246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00" b="1" i="0">
                <a:solidFill>
                  <a:srgbClr val="262626"/>
                </a:solidFill>
                <a:ea typeface="Arial"/>
                <a:cs typeface="Arial"/>
                <a:latin typeface="Arial"/>
              </a:rPr>
              <a:t>Rigid pytest Test Suite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962948" y="5129784"/>
            <a:ext cx="2512771" cy="246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0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（严格 pytest 测试套件）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1708099" y="2743200"/>
            <a:ext cx="0" cy="283464"/>
          </a:xfrm>
          <a:prstGeom prst="line">
            <a:avLst/>
          </a:prstGeom>
          <a:ln w="19050">
            <a:solidFill>
              <a:srgbClr val="319074"/>
            </a:solidFill>
            <a:headEnd type="triangle" w="med" h="med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708099" y="4142232"/>
            <a:ext cx="0" cy="283464"/>
          </a:xfrm>
          <a:prstGeom prst="line">
            <a:avLst/>
          </a:prstGeom>
          <a:ln w="19050">
            <a:solidFill>
              <a:srgbClr val="319074"/>
            </a:solidFill>
            <a:headEnd type="triangle" w="med" h="med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6206947" y="2743200"/>
            <a:ext cx="0" cy="283464"/>
          </a:xfrm>
          <a:prstGeom prst="line">
            <a:avLst/>
          </a:prstGeom>
          <a:ln w="19050">
            <a:solidFill>
              <a:srgbClr val="319074"/>
            </a:solidFill>
            <a:headEnd type="triangle" w="med" h="med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6206947" y="4142232"/>
            <a:ext cx="0" cy="283464"/>
          </a:xfrm>
          <a:prstGeom prst="line">
            <a:avLst/>
          </a:prstGeom>
          <a:ln w="19050">
            <a:solidFill>
              <a:srgbClr val="319074"/>
            </a:solidFill>
            <a:headEnd type="triangle" w="med" h="med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638129" y="2743200"/>
            <a:ext cx="0" cy="283464"/>
          </a:xfrm>
          <a:prstGeom prst="line">
            <a:avLst/>
          </a:prstGeom>
          <a:ln w="19050">
            <a:solidFill>
              <a:srgbClr val="319074"/>
            </a:solidFill>
            <a:headEnd type="triangle" w="med" h="med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638129" y="4142232"/>
            <a:ext cx="0" cy="283464"/>
          </a:xfrm>
          <a:prstGeom prst="line">
            <a:avLst/>
          </a:prstGeom>
          <a:ln w="19050">
            <a:solidFill>
              <a:srgbClr val="319074"/>
            </a:solidFill>
            <a:headEnd type="triangle" w="med" h="med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2872130" y="3730752"/>
            <a:ext cx="508406" cy="0"/>
          </a:xfrm>
          <a:prstGeom prst="line">
            <a:avLst/>
          </a:prstGeom>
          <a:ln w="19050">
            <a:solidFill>
              <a:srgbClr val="1B3355"/>
            </a:solidFill>
            <a:headEnd type="triangle" w="med" h="med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5841187" y="3730752"/>
            <a:ext cx="508406" cy="0"/>
          </a:xfrm>
          <a:prstGeom prst="line">
            <a:avLst/>
          </a:prstGeom>
          <a:ln w="19050">
            <a:solidFill>
              <a:srgbClr val="1B3355"/>
            </a:solidFill>
            <a:headEnd type="triangle" w="med" h="med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8810244" y="3730752"/>
            <a:ext cx="508406" cy="0"/>
          </a:xfrm>
          <a:prstGeom prst="line">
            <a:avLst/>
          </a:prstGeom>
          <a:ln w="19050">
            <a:solidFill>
              <a:srgbClr val="1B3355"/>
            </a:solidFill>
            <a:headEnd type="triangle" w="med" h="med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Rounded Rectangle 171"/>
          <p:cNvSpPr/>
          <p:nvPr/>
        </p:nvSpPr>
        <p:spPr>
          <a:xfrm>
            <a:off x="457200" y="5687568"/>
            <a:ext cx="11274552" cy="493776"/>
          </a:xfrm>
          <a:prstGeom prst="roundRect">
            <a:avLst>
              <a:gd name="adj" fmla="val 14000"/>
            </a:avLst>
          </a:prstGeom>
          <a:solidFill>
            <a:srgbClr val="0C2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685800" y="5687568"/>
            <a:ext cx="1081735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ea typeface="微软雅黑"/>
                <a:cs typeface="微软雅黑"/>
                <a:latin typeface="微软雅黑"/>
              </a:rPr>
              <a:t>DeepTreasure 打通「配置—调度—训练—收敛」全链路，让模型迭代从人工调参走向工程化自动闭环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57200" y="6217920"/>
            <a:ext cx="112745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778495"/>
                </a:solidFill>
                <a:ea typeface="微软雅黑 Light"/>
                <a:cs typeface="微软雅黑 Light"/>
                <a:latin typeface="微软雅黑 Light"/>
              </a:rPr>
              <a:t>数据来源：DeepTreasure 平台技术文档 · PyTorch / FastAPI / CrewAI 技术栈</a:t>
            </a:r>
          </a:p>
        </p:txBody>
      </p:sp>
      <p:cxnSp>
        <p:nvCxnSpPr>
          <p:cNvPr id="175" name="Connector 174"/>
          <p:cNvCxnSpPr/>
          <p:nvPr/>
        </p:nvCxnSpPr>
        <p:spPr>
          <a:xfrm>
            <a:off x="457200" y="6455664"/>
            <a:ext cx="11274552" cy="0"/>
          </a:xfrm>
          <a:prstGeom prst="line">
            <a:avLst/>
          </a:prstGeom>
          <a:ln w="952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457200" y="651052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B4593"/>
                </a:solidFill>
                <a:ea typeface="微软雅黑"/>
                <a:cs typeface="微软雅黑"/>
                <a:latin typeface="微软雅黑"/>
              </a:rPr>
              <a:t>中信银行  CITIC BANK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023360" y="651052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778495"/>
                </a:solidFill>
                <a:ea typeface="微软雅黑 Light"/>
                <a:cs typeface="微软雅黑 Light"/>
                <a:latin typeface="微软雅黑 Light"/>
              </a:rPr>
              <a:t>方案 · 技术架构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9875520" y="6510528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 i="0">
                <a:solidFill>
                  <a:srgbClr val="1B4593"/>
                </a:solidFill>
                <a:ea typeface="Arial"/>
                <a:cs typeface="Arial"/>
                <a:latin typeface="Arial"/>
              </a:rPr>
              <a:t>P 004 / 006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20624"/>
            <a:ext cx="82296" cy="566928"/>
          </a:xfrm>
          <a:prstGeom prst="rect">
            <a:avLst/>
          </a:prstGeom>
          <a:solidFill>
            <a:srgbClr val="DF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326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1" i="0">
                <a:solidFill>
                  <a:srgbClr val="1B4593"/>
                </a:solidFill>
                <a:ea typeface="微软雅黑"/>
                <a:cs typeface="微软雅黑"/>
                <a:latin typeface="微软雅黑"/>
              </a:rPr>
              <a:t>全场景业务价值赋能：数智资负驱动全行经营更优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42415"/>
            <a:ext cx="11274552" cy="0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528048" y="493776"/>
            <a:ext cx="2203704" cy="420624"/>
          </a:xfrm>
          <a:prstGeom prst="roundRect">
            <a:avLst>
              <a:gd name="adj" fmla="val 50000"/>
            </a:avLst>
          </a:prstGeom>
          <a:solidFill>
            <a:srgbClr val="FFF3D2"/>
          </a:solidFill>
          <a:ln w="15875">
            <a:solidFill>
              <a:srgbClr val="CBA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19488" y="493776"/>
            <a:ext cx="20208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A87C1E"/>
                </a:solidFill>
                <a:ea typeface="微软雅黑"/>
                <a:cs typeface="微软雅黑"/>
                <a:latin typeface="微软雅黑"/>
              </a:rPr>
              <a:t>全行级经营价值赋能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778495"/>
                </a:solidFill>
                <a:ea typeface="微软雅黑 Light"/>
                <a:cs typeface="微软雅黑 Light"/>
                <a:latin typeface="微软雅黑 Light"/>
              </a:rPr>
              <a:t>覆盖资产负债配置、流动性、利率风险与 FTP 定价 6 大核心场景，实现商业价值深度溢出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3614623" cy="1947672"/>
          </a:xfrm>
          <a:prstGeom prst="roundRect">
            <a:avLst>
              <a:gd name="adj" fmla="val 10000"/>
            </a:avLst>
          </a:prstGeom>
          <a:solidFill>
            <a:srgbClr val="F0F3F8"/>
          </a:solidFill>
          <a:ln w="12700">
            <a:solidFill>
              <a:srgbClr val="CED3D9"/>
            </a:solidFill>
          </a:ln>
          <a:effectLst>
            <a:outerShdw blurRad="90000" dist="28000" dir="5400000" rotWithShape="0">
              <a:srgbClr val="93A2B8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755648"/>
            <a:ext cx="304769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C2864"/>
                </a:solidFill>
                <a:ea typeface="微软雅黑"/>
                <a:cs typeface="微软雅黑"/>
                <a:latin typeface="微软雅黑"/>
              </a:rPr>
              <a:t>1. 资产负债结构配置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6092" y="2334323"/>
            <a:ext cx="178308" cy="0"/>
          </a:xfrm>
          <a:prstGeom prst="line">
            <a:avLst/>
          </a:prstGeom>
          <a:ln w="30480">
            <a:solidFill>
              <a:srgbClr val="33A3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922172" y="2295461"/>
            <a:ext cx="62179" cy="77724"/>
          </a:xfrm>
          <a:prstGeom prst="triangle">
            <a:avLst/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804671" y="2434907"/>
            <a:ext cx="178309" cy="0"/>
          </a:xfrm>
          <a:prstGeom prst="line">
            <a:avLst/>
          </a:prstGeom>
          <a:ln w="30480">
            <a:solidFill>
              <a:srgbClr val="33A3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16200000">
            <a:off x="734720" y="2396045"/>
            <a:ext cx="62179" cy="77724"/>
          </a:xfrm>
          <a:prstGeom prst="triangle">
            <a:avLst/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249424"/>
            <a:ext cx="2606040" cy="261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突破静态复制限制，动态期限套利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7" y="2899917"/>
            <a:ext cx="45720" cy="68580"/>
          </a:xfrm>
          <a:prstGeom prst="roundRect">
            <a:avLst>
              <a:gd name="adj" fmla="val 28000"/>
            </a:avLst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2784" y="2863341"/>
            <a:ext cx="45720" cy="105156"/>
          </a:xfrm>
          <a:prstGeom prst="roundRect">
            <a:avLst>
              <a:gd name="adj" fmla="val 28000"/>
            </a:avLst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8621" y="2826766"/>
            <a:ext cx="45720" cy="141732"/>
          </a:xfrm>
          <a:prstGeom prst="roundRect">
            <a:avLst>
              <a:gd name="adj" fmla="val 28000"/>
            </a:avLst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4458" y="2785617"/>
            <a:ext cx="45720" cy="182880"/>
          </a:xfrm>
          <a:prstGeom prst="roundRect">
            <a:avLst>
              <a:gd name="adj" fmla="val 28000"/>
            </a:avLst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731519" y="2739898"/>
            <a:ext cx="224028" cy="164592"/>
          </a:xfrm>
          <a:prstGeom prst="line">
            <a:avLst/>
          </a:prstGeom>
          <a:ln w="25400">
            <a:solidFill>
              <a:srgbClr val="33A3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2880000">
            <a:off x="927187" y="2682866"/>
            <a:ext cx="76809" cy="96012"/>
          </a:xfrm>
          <a:prstGeom prst="triangle">
            <a:avLst/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2602103"/>
            <a:ext cx="2606040" cy="4676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实测年化 ROE 提升 +2.0%~+2.5%，拓宽 NIM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6707" y="1554480"/>
            <a:ext cx="3614623" cy="1947672"/>
          </a:xfrm>
          <a:prstGeom prst="roundRect">
            <a:avLst>
              <a:gd name="adj" fmla="val 10000"/>
            </a:avLst>
          </a:prstGeom>
          <a:solidFill>
            <a:srgbClr val="F0F3F8"/>
          </a:solidFill>
          <a:ln w="12700">
            <a:solidFill>
              <a:srgbClr val="CED3D9"/>
            </a:solidFill>
          </a:ln>
          <a:effectLst>
            <a:outerShdw blurRad="90000" dist="28000" dir="5400000" rotWithShape="0">
              <a:srgbClr val="93A2B8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0171" y="1755648"/>
            <a:ext cx="304769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C2864"/>
                </a:solidFill>
                <a:ea typeface="微软雅黑"/>
                <a:cs typeface="微软雅黑"/>
                <a:latin typeface="微软雅黑"/>
              </a:rPr>
              <a:t>2. 经济资本与杠杆管理</a:t>
            </a:r>
          </a:p>
        </p:txBody>
      </p:sp>
      <p:sp>
        <p:nvSpPr>
          <p:cNvPr id="24" name="Oval 23"/>
          <p:cNvSpPr/>
          <p:nvPr/>
        </p:nvSpPr>
        <p:spPr>
          <a:xfrm>
            <a:off x="4547311" y="2341499"/>
            <a:ext cx="283464" cy="283464"/>
          </a:xfrm>
          <a:prstGeom prst="ellipse">
            <a:avLst/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4615891" y="2469515"/>
            <a:ext cx="64008" cy="54864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679899" y="2469515"/>
            <a:ext cx="77724" cy="45720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757623" y="2437511"/>
            <a:ext cx="0" cy="77724"/>
          </a:xfrm>
          <a:prstGeom prst="line">
            <a:avLst/>
          </a:prstGeom>
          <a:ln w="215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908499" y="2249424"/>
            <a:ext cx="2606040" cy="4676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将 RWA 权重与 CAR ≥ 17% 嵌入优化求解器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56455" y="3106293"/>
            <a:ext cx="45720" cy="68580"/>
          </a:xfrm>
          <a:prstGeom prst="roundRect">
            <a:avLst>
              <a:gd name="adj" fmla="val 28000"/>
            </a:avLst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622292" y="3069717"/>
            <a:ext cx="45720" cy="105156"/>
          </a:xfrm>
          <a:prstGeom prst="roundRect">
            <a:avLst>
              <a:gd name="adj" fmla="val 28000"/>
            </a:avLst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88128" y="3033141"/>
            <a:ext cx="45720" cy="141732"/>
          </a:xfrm>
          <a:prstGeom prst="roundRect">
            <a:avLst>
              <a:gd name="adj" fmla="val 28000"/>
            </a:avLst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753965" y="2991993"/>
            <a:ext cx="45720" cy="182880"/>
          </a:xfrm>
          <a:prstGeom prst="roundRect">
            <a:avLst>
              <a:gd name="adj" fmla="val 28000"/>
            </a:avLst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V="1">
            <a:off x="4561027" y="2946273"/>
            <a:ext cx="224028" cy="164592"/>
          </a:xfrm>
          <a:prstGeom prst="line">
            <a:avLst/>
          </a:prstGeom>
          <a:ln w="25400">
            <a:solidFill>
              <a:srgbClr val="33A3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2880000">
            <a:off x="4756694" y="2889241"/>
            <a:ext cx="76809" cy="96012"/>
          </a:xfrm>
          <a:prstGeom prst="triangle">
            <a:avLst/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08499" y="2808478"/>
            <a:ext cx="2606040" cy="4676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优化资产结构，最大化单位资本回报（RAROC）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16214" y="1554480"/>
            <a:ext cx="3614623" cy="1947672"/>
          </a:xfrm>
          <a:prstGeom prst="roundRect">
            <a:avLst>
              <a:gd name="adj" fmla="val 10000"/>
            </a:avLst>
          </a:prstGeom>
          <a:solidFill>
            <a:srgbClr val="F0F3F8"/>
          </a:solidFill>
          <a:ln w="12700">
            <a:solidFill>
              <a:srgbClr val="CED3D9"/>
            </a:solidFill>
          </a:ln>
          <a:effectLst>
            <a:outerShdw blurRad="90000" dist="28000" dir="5400000" rotWithShape="0">
              <a:srgbClr val="93A2B8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99678" y="1755648"/>
            <a:ext cx="304769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C2864"/>
                </a:solidFill>
                <a:ea typeface="微软雅黑"/>
                <a:cs typeface="微软雅黑"/>
                <a:latin typeface="微软雅黑"/>
              </a:rPr>
              <a:t>3. 流动性风险管理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85962" y="2547239"/>
            <a:ext cx="45720" cy="68580"/>
          </a:xfrm>
          <a:prstGeom prst="roundRect">
            <a:avLst>
              <a:gd name="adj" fmla="val 28000"/>
            </a:avLst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451799" y="2510663"/>
            <a:ext cx="45720" cy="105156"/>
          </a:xfrm>
          <a:prstGeom prst="roundRect">
            <a:avLst>
              <a:gd name="adj" fmla="val 28000"/>
            </a:avLst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517636" y="2474087"/>
            <a:ext cx="45720" cy="141732"/>
          </a:xfrm>
          <a:prstGeom prst="roundRect">
            <a:avLst>
              <a:gd name="adj" fmla="val 28000"/>
            </a:avLst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583472" y="2432939"/>
            <a:ext cx="45720" cy="182880"/>
          </a:xfrm>
          <a:prstGeom prst="roundRect">
            <a:avLst>
              <a:gd name="adj" fmla="val 28000"/>
            </a:avLst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8390534" y="2387219"/>
            <a:ext cx="224028" cy="164592"/>
          </a:xfrm>
          <a:prstGeom prst="line">
            <a:avLst/>
          </a:prstGeom>
          <a:ln w="25400">
            <a:solidFill>
              <a:srgbClr val="33A3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Isosceles Triangle 42"/>
          <p:cNvSpPr/>
          <p:nvPr/>
        </p:nvSpPr>
        <p:spPr>
          <a:xfrm rot="2880000">
            <a:off x="8586202" y="2330187"/>
            <a:ext cx="76809" cy="96012"/>
          </a:xfrm>
          <a:prstGeom prst="triangle">
            <a:avLst/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8006" y="2249424"/>
            <a:ext cx="2606040" cy="4676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内置 LCR（≥105%）、NSFR（≥105%）与 CMR 监控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95106" y="2900553"/>
            <a:ext cx="246888" cy="182880"/>
          </a:xfrm>
          <a:prstGeom prst="roundRect">
            <a:avLst>
              <a:gd name="adj" fmla="val 30000"/>
            </a:avLst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 rot="10800000">
            <a:off x="8395106" y="3060573"/>
            <a:ext cx="246888" cy="137160"/>
          </a:xfrm>
          <a:prstGeom prst="triangle">
            <a:avLst/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95106" y="2882265"/>
            <a:ext cx="2468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ea typeface="微软雅黑"/>
                <a:cs typeface="微软雅黑"/>
                <a:latin typeface="微软雅黑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8006" y="2808478"/>
            <a:ext cx="2606040" cy="4676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毫秒级合规拦截与零违约，消除资金沉淀惩罚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3648456"/>
            <a:ext cx="3614623" cy="1947672"/>
          </a:xfrm>
          <a:prstGeom prst="roundRect">
            <a:avLst>
              <a:gd name="adj" fmla="val 10000"/>
            </a:avLst>
          </a:prstGeom>
          <a:solidFill>
            <a:srgbClr val="F0F3F8"/>
          </a:solidFill>
          <a:ln w="12700">
            <a:solidFill>
              <a:srgbClr val="CED3D9"/>
            </a:solidFill>
          </a:ln>
          <a:effectLst>
            <a:outerShdw blurRad="90000" dist="28000" dir="5400000" rotWithShape="0">
              <a:srgbClr val="93A2B8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0664" y="3849624"/>
            <a:ext cx="304769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C2864"/>
                </a:solidFill>
                <a:ea typeface="微软雅黑"/>
                <a:cs typeface="微软雅黑"/>
                <a:latin typeface="微软雅黑"/>
              </a:rPr>
              <a:t>4. 银行账簿利率风险（IRRBB）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6947" y="4641214"/>
            <a:ext cx="45720" cy="68580"/>
          </a:xfrm>
          <a:prstGeom prst="roundRect">
            <a:avLst>
              <a:gd name="adj" fmla="val 28000"/>
            </a:avLst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92784" y="4604638"/>
            <a:ext cx="45720" cy="105156"/>
          </a:xfrm>
          <a:prstGeom prst="roundRect">
            <a:avLst>
              <a:gd name="adj" fmla="val 28000"/>
            </a:avLst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58621" y="4568062"/>
            <a:ext cx="45720" cy="141732"/>
          </a:xfrm>
          <a:prstGeom prst="roundRect">
            <a:avLst>
              <a:gd name="adj" fmla="val 28000"/>
            </a:avLst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24458" y="4526914"/>
            <a:ext cx="45720" cy="182880"/>
          </a:xfrm>
          <a:prstGeom prst="roundRect">
            <a:avLst>
              <a:gd name="adj" fmla="val 28000"/>
            </a:avLst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 flipV="1">
            <a:off x="731519" y="4481194"/>
            <a:ext cx="224028" cy="164593"/>
          </a:xfrm>
          <a:prstGeom prst="line">
            <a:avLst/>
          </a:prstGeom>
          <a:ln w="25400">
            <a:solidFill>
              <a:srgbClr val="33A3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 rot="2880000">
            <a:off x="927187" y="4424163"/>
            <a:ext cx="76809" cy="96012"/>
          </a:xfrm>
          <a:prstGeom prst="triangle">
            <a:avLst/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78992" y="4343400"/>
            <a:ext cx="2606040" cy="4676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控制 ±100bps 冲击下权益敏感性（IRS ≤ 8.5%）</a:t>
            </a:r>
          </a:p>
        </p:txBody>
      </p:sp>
      <p:sp>
        <p:nvSpPr>
          <p:cNvPr id="58" name="Oval 57"/>
          <p:cNvSpPr/>
          <p:nvPr/>
        </p:nvSpPr>
        <p:spPr>
          <a:xfrm>
            <a:off x="717803" y="4994529"/>
            <a:ext cx="283464" cy="283464"/>
          </a:xfrm>
          <a:prstGeom prst="ellipse">
            <a:avLst/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781812" y="5081397"/>
            <a:ext cx="109728" cy="84124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Isosceles Triangle 59"/>
          <p:cNvSpPr/>
          <p:nvPr/>
        </p:nvSpPr>
        <p:spPr>
          <a:xfrm rot="7740000">
            <a:off x="877008" y="5140367"/>
            <a:ext cx="45354" cy="56692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H="1">
            <a:off x="827531" y="5081397"/>
            <a:ext cx="109728" cy="84124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Isosceles Triangle 61"/>
          <p:cNvSpPr/>
          <p:nvPr/>
        </p:nvSpPr>
        <p:spPr>
          <a:xfrm rot="13860000">
            <a:off x="796708" y="5140367"/>
            <a:ext cx="45354" cy="56692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78992" y="4902454"/>
            <a:ext cx="2606040" cy="4676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利用 Swaps 对冲降本 90%，平滑 EVE / NII 波动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286707" y="3648456"/>
            <a:ext cx="3614623" cy="1947672"/>
          </a:xfrm>
          <a:prstGeom prst="roundRect">
            <a:avLst>
              <a:gd name="adj" fmla="val 10000"/>
            </a:avLst>
          </a:prstGeom>
          <a:solidFill>
            <a:srgbClr val="F0F3F8"/>
          </a:solidFill>
          <a:ln w="12700">
            <a:solidFill>
              <a:srgbClr val="CED3D9"/>
            </a:solidFill>
          </a:ln>
          <a:effectLst>
            <a:outerShdw blurRad="90000" dist="28000" dir="5400000" rotWithShape="0">
              <a:srgbClr val="93A2B8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0171" y="3849624"/>
            <a:ext cx="304769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C2864"/>
                </a:solidFill>
                <a:ea typeface="微软雅黑"/>
                <a:cs typeface="微软雅黑"/>
                <a:latin typeface="微软雅黑"/>
              </a:rPr>
              <a:t>5. 内部资金转移定价（FTP）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556455" y="4641214"/>
            <a:ext cx="45720" cy="68580"/>
          </a:xfrm>
          <a:prstGeom prst="roundRect">
            <a:avLst>
              <a:gd name="adj" fmla="val 28000"/>
            </a:avLst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622292" y="4604638"/>
            <a:ext cx="45720" cy="105156"/>
          </a:xfrm>
          <a:prstGeom prst="roundRect">
            <a:avLst>
              <a:gd name="adj" fmla="val 28000"/>
            </a:avLst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688128" y="4568062"/>
            <a:ext cx="45720" cy="141732"/>
          </a:xfrm>
          <a:prstGeom prst="roundRect">
            <a:avLst>
              <a:gd name="adj" fmla="val 28000"/>
            </a:avLst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4753965" y="4526914"/>
            <a:ext cx="45720" cy="182880"/>
          </a:xfrm>
          <a:prstGeom prst="roundRect">
            <a:avLst>
              <a:gd name="adj" fmla="val 28000"/>
            </a:avLst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 flipV="1">
            <a:off x="4561027" y="4481194"/>
            <a:ext cx="224028" cy="164593"/>
          </a:xfrm>
          <a:prstGeom prst="line">
            <a:avLst/>
          </a:prstGeom>
          <a:ln w="25400">
            <a:solidFill>
              <a:srgbClr val="33A3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Isosceles Triangle 70"/>
          <p:cNvSpPr/>
          <p:nvPr/>
        </p:nvSpPr>
        <p:spPr>
          <a:xfrm rot="2880000">
            <a:off x="4756694" y="4424163"/>
            <a:ext cx="76809" cy="96012"/>
          </a:xfrm>
          <a:prstGeom prst="triangle">
            <a:avLst/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908499" y="4343400"/>
            <a:ext cx="2606040" cy="4676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精准建模非期限存款（NDM）沉淀率与 0% 下限期权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65599" y="4994529"/>
            <a:ext cx="246888" cy="182880"/>
          </a:xfrm>
          <a:prstGeom prst="roundRect">
            <a:avLst>
              <a:gd name="adj" fmla="val 30000"/>
            </a:avLst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Isosceles Triangle 73"/>
          <p:cNvSpPr/>
          <p:nvPr/>
        </p:nvSpPr>
        <p:spPr>
          <a:xfrm rot="10800000">
            <a:off x="4565599" y="5154549"/>
            <a:ext cx="246888" cy="137160"/>
          </a:xfrm>
          <a:prstGeom prst="triangle">
            <a:avLst/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65599" y="4976241"/>
            <a:ext cx="2468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ea typeface="微软雅黑"/>
                <a:cs typeface="微软雅黑"/>
                <a:latin typeface="微软雅黑"/>
              </a:rPr>
              <a:t>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08499" y="4902454"/>
            <a:ext cx="2606040" cy="4676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在利率下行周期保护净息差（NIM）与利息收入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116214" y="3648456"/>
            <a:ext cx="3614623" cy="1947672"/>
          </a:xfrm>
          <a:prstGeom prst="roundRect">
            <a:avLst>
              <a:gd name="adj" fmla="val 10000"/>
            </a:avLst>
          </a:prstGeom>
          <a:solidFill>
            <a:srgbClr val="F0F3F8"/>
          </a:solidFill>
          <a:ln w="12700">
            <a:solidFill>
              <a:srgbClr val="CED3D9"/>
            </a:solidFill>
          </a:ln>
          <a:effectLst>
            <a:outerShdw blurRad="90000" dist="28000" dir="5400000" rotWithShape="0">
              <a:srgbClr val="93A2B8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399678" y="3849624"/>
            <a:ext cx="304769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C2864"/>
                </a:solidFill>
                <a:ea typeface="微软雅黑"/>
                <a:cs typeface="微软雅黑"/>
                <a:latin typeface="微软雅黑"/>
              </a:rPr>
              <a:t>6. 预算管理与财务底线</a:t>
            </a:r>
          </a:p>
        </p:txBody>
      </p:sp>
      <p:sp>
        <p:nvSpPr>
          <p:cNvPr id="79" name="Pie 78"/>
          <p:cNvSpPr/>
          <p:nvPr/>
        </p:nvSpPr>
        <p:spPr>
          <a:xfrm>
            <a:off x="8381390" y="4440046"/>
            <a:ext cx="274320" cy="274320"/>
          </a:xfrm>
          <a:prstGeom prst="pie">
            <a:avLst/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738006" y="4343400"/>
            <a:ext cx="2606040" cy="4676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非对称目标损失设计，设定年度最低收益保护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395106" y="4994529"/>
            <a:ext cx="246888" cy="182880"/>
          </a:xfrm>
          <a:prstGeom prst="roundRect">
            <a:avLst>
              <a:gd name="adj" fmla="val 30000"/>
            </a:avLst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Isosceles Triangle 81"/>
          <p:cNvSpPr/>
          <p:nvPr/>
        </p:nvSpPr>
        <p:spPr>
          <a:xfrm rot="10800000">
            <a:off x="8395106" y="5154549"/>
            <a:ext cx="246888" cy="137160"/>
          </a:xfrm>
          <a:prstGeom prst="triangle">
            <a:avLst/>
          </a:prstGeom>
          <a:solidFill>
            <a:srgbClr val="33A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395106" y="4976241"/>
            <a:ext cx="2468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ea typeface="微软雅黑"/>
                <a:cs typeface="微软雅黑"/>
                <a:latin typeface="微软雅黑"/>
              </a:rPr>
              <a:t>✓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738006" y="4902454"/>
            <a:ext cx="2606040" cy="4676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防范极端风险，保障稳定分红能力与财务韧性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57200" y="5687568"/>
            <a:ext cx="11274552" cy="493776"/>
          </a:xfrm>
          <a:prstGeom prst="roundRect">
            <a:avLst>
              <a:gd name="adj" fmla="val 10000"/>
            </a:avLst>
          </a:prstGeom>
          <a:solidFill>
            <a:srgbClr val="0B132A"/>
          </a:solidFill>
          <a:ln w="15875">
            <a:solidFill>
              <a:srgbClr val="C4B1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5800" y="5687568"/>
            <a:ext cx="1081735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ea typeface="微软雅黑"/>
                <a:cs typeface="微软雅黑"/>
                <a:latin typeface="微软雅黑"/>
              </a:rPr>
              <a:t>总结：以数智算力赋能资负全场景，兼顾收益增厚、风险拦截与资本高效利用。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6217920"/>
            <a:ext cx="112745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778495"/>
                </a:solidFill>
                <a:ea typeface="微软雅黑 Light"/>
                <a:cs typeface="微软雅黑 Light"/>
                <a:latin typeface="微软雅黑 Light"/>
              </a:rPr>
              <a:t>数据来源：金融监管总局监管口径 · 上市银行年报 · 中信银行内部业务调研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457200" y="6455664"/>
            <a:ext cx="11274552" cy="0"/>
          </a:xfrm>
          <a:prstGeom prst="line">
            <a:avLst/>
          </a:prstGeom>
          <a:ln w="952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457200" y="651052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B4593"/>
                </a:solidFill>
                <a:ea typeface="微软雅黑"/>
                <a:cs typeface="微软雅黑"/>
                <a:latin typeface="微软雅黑"/>
              </a:rPr>
              <a:t>中信银行  CITIC BANK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23360" y="651052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778495"/>
                </a:solidFill>
                <a:ea typeface="微软雅黑 Light"/>
                <a:cs typeface="微软雅黑 Light"/>
                <a:latin typeface="微软雅黑 Light"/>
              </a:rPr>
              <a:t>方案 · 全场景价值赋能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875520" y="6510528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 i="0">
                <a:solidFill>
                  <a:srgbClr val="1B4593"/>
                </a:solidFill>
                <a:ea typeface="Arial"/>
                <a:cs typeface="Arial"/>
                <a:latin typeface="Arial"/>
              </a:rPr>
              <a:t>P 005 / 006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20624"/>
            <a:ext cx="82296" cy="566928"/>
          </a:xfrm>
          <a:prstGeom prst="rect">
            <a:avLst/>
          </a:prstGeom>
          <a:solidFill>
            <a:srgbClr val="DF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326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1" i="0">
                <a:solidFill>
                  <a:srgbClr val="1B4593"/>
                </a:solidFill>
                <a:ea typeface="微软雅黑"/>
                <a:cs typeface="微软雅黑"/>
                <a:latin typeface="微软雅黑"/>
              </a:rPr>
              <a:t>经营分析与落地衔接闭环：把业务预测转化为经营决策语言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42415"/>
            <a:ext cx="11274552" cy="0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528048" y="493776"/>
            <a:ext cx="220370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EAA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19488" y="493776"/>
            <a:ext cx="20208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4593"/>
                </a:solidFill>
                <a:ea typeface="微软雅黑"/>
                <a:cs typeface="微软雅黑"/>
                <a:latin typeface="微软雅黑"/>
              </a:rPr>
              <a:t>预算 · FTP · 考核 · ALCO 联动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778495"/>
                </a:solidFill>
                <a:ea typeface="微软雅黑 Light"/>
                <a:cs typeface="微软雅黑 Light"/>
                <a:latin typeface="微软雅黑 Light"/>
              </a:rPr>
              <a:t>通过预算、FTP、考核与 ALCO 驾驶舱四维联动，驱动业务精准落地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89888"/>
            <a:ext cx="5532120" cy="1975104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5875">
            <a:solidFill>
              <a:srgbClr val="E1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12647" y="2304288"/>
            <a:ext cx="859537" cy="0"/>
          </a:xfrm>
          <a:prstGeom prst="line">
            <a:avLst/>
          </a:prstGeom>
          <a:ln w="25400">
            <a:solidFill>
              <a:srgbClr val="1C4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33271" y="2148840"/>
            <a:ext cx="86868" cy="155448"/>
          </a:xfrm>
          <a:prstGeom prst="roundRect">
            <a:avLst>
              <a:gd name="adj" fmla="val 12000"/>
            </a:avLst>
          </a:prstGeom>
          <a:solidFill>
            <a:srgbClr val="C6D5E0"/>
          </a:solidFill>
          <a:ln w="12700">
            <a:solidFill>
              <a:srgbClr val="1C4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029968"/>
            <a:ext cx="86868" cy="274320"/>
          </a:xfrm>
          <a:prstGeom prst="roundRect">
            <a:avLst>
              <a:gd name="adj" fmla="val 12000"/>
            </a:avLst>
          </a:prstGeom>
          <a:solidFill>
            <a:srgbClr val="9EDAE4"/>
          </a:solidFill>
          <a:ln w="12700">
            <a:solidFill>
              <a:srgbClr val="1C4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52728" y="1911095"/>
            <a:ext cx="86868" cy="393192"/>
          </a:xfrm>
          <a:prstGeom prst="roundRect">
            <a:avLst>
              <a:gd name="adj" fmla="val 12000"/>
            </a:avLst>
          </a:prstGeom>
          <a:solidFill>
            <a:srgbClr val="3EB4C8"/>
          </a:solidFill>
          <a:ln w="12700">
            <a:solidFill>
              <a:srgbClr val="1C4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8075" y="1595628"/>
            <a:ext cx="612648" cy="612648"/>
          </a:xfrm>
          <a:prstGeom prst="ellipse">
            <a:avLst/>
          </a:prstGeom>
          <a:solidFill>
            <a:srgbClr val="C6D5E0"/>
          </a:solidFill>
          <a:ln w="20320">
            <a:solidFill>
              <a:srgbClr val="1C4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0371" y="1677924"/>
            <a:ext cx="448056" cy="44805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4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2667" y="1760220"/>
            <a:ext cx="283464" cy="283464"/>
          </a:xfrm>
          <a:prstGeom prst="ellipse">
            <a:avLst/>
          </a:prstGeom>
          <a:solidFill>
            <a:srgbClr val="3EB4C8"/>
          </a:solidFill>
          <a:ln w="16510">
            <a:solidFill>
              <a:srgbClr val="1C4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7707" y="1845259"/>
            <a:ext cx="113385" cy="113385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C4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H="1">
            <a:off x="1034836" y="1554480"/>
            <a:ext cx="437348" cy="278311"/>
          </a:xfrm>
          <a:prstGeom prst="line">
            <a:avLst/>
          </a:prstGeom>
          <a:ln w="33020">
            <a:solidFill>
              <a:srgbClr val="3E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4251728">
            <a:off x="972657" y="1755067"/>
            <a:ext cx="124358" cy="155448"/>
          </a:xfrm>
          <a:prstGeom prst="triangle">
            <a:avLst/>
          </a:prstGeom>
          <a:solidFill>
            <a:srgbClr val="3E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298448" y="1554480"/>
            <a:ext cx="173736" cy="41148"/>
          </a:xfrm>
          <a:prstGeom prst="line">
            <a:avLst/>
          </a:prstGeom>
          <a:ln w="25400">
            <a:solidFill>
              <a:srgbClr val="3E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421892" y="1554480"/>
            <a:ext cx="50292" cy="169164"/>
          </a:xfrm>
          <a:prstGeom prst="line">
            <a:avLst/>
          </a:prstGeom>
          <a:ln w="25400">
            <a:solidFill>
              <a:srgbClr val="3E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627632" y="1572768"/>
            <a:ext cx="4160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C2864"/>
                </a:solidFill>
                <a:ea typeface="微软雅黑"/>
                <a:cs typeface="微软雅黑"/>
                <a:latin typeface="微软雅黑"/>
              </a:rPr>
              <a:t>预算管理衔接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7632" y="1920240"/>
            <a:ext cx="4160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6E84"/>
                </a:solidFill>
                <a:ea typeface="微软雅黑 Light"/>
                <a:cs typeface="微软雅黑 Light"/>
                <a:latin typeface="微软雅黑 Light"/>
              </a:rPr>
              <a:t>实现目标导向的规模分解与滚动调整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2384755"/>
            <a:ext cx="53035" cy="53035"/>
          </a:xfrm>
          <a:prstGeom prst="ellipse">
            <a:avLst/>
          </a:prstGeom>
          <a:solidFill>
            <a:srgbClr val="6E8C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2322576"/>
            <a:ext cx="49103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基于业务预测目标，自上而下精准分解规模指标。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2713939"/>
            <a:ext cx="53035" cy="53035"/>
          </a:xfrm>
          <a:prstGeom prst="ellipse">
            <a:avLst/>
          </a:prstGeom>
          <a:solidFill>
            <a:srgbClr val="6E8C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2651760"/>
            <a:ext cx="49103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定期滚动更新预测数据，动态调整预算下达方案。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" y="3043123"/>
            <a:ext cx="53035" cy="53035"/>
          </a:xfrm>
          <a:prstGeom prst="ellipse">
            <a:avLst/>
          </a:prstGeom>
          <a:solidFill>
            <a:srgbClr val="6E8C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2980944"/>
            <a:ext cx="49103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建立多维度预算视图，支持经营层多角度透视业务发展。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1389888"/>
            <a:ext cx="5532120" cy="1975104"/>
          </a:xfrm>
          <a:prstGeom prst="roundRect">
            <a:avLst>
              <a:gd name="adj" fmla="val 8500"/>
            </a:avLst>
          </a:prstGeom>
          <a:solidFill>
            <a:srgbClr val="ECF8FA"/>
          </a:solidFill>
          <a:ln w="15875">
            <a:solidFill>
              <a:srgbClr val="74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6355080" y="2304288"/>
            <a:ext cx="877824" cy="0"/>
          </a:xfrm>
          <a:prstGeom prst="line">
            <a:avLst/>
          </a:prstGeom>
          <a:ln w="25400">
            <a:solidFill>
              <a:srgbClr val="1C4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867144" y="2157984"/>
            <a:ext cx="86868" cy="146304"/>
          </a:xfrm>
          <a:prstGeom prst="roundRect">
            <a:avLst>
              <a:gd name="adj" fmla="val 12000"/>
            </a:avLst>
          </a:prstGeom>
          <a:solidFill>
            <a:srgbClr val="C6D5E0"/>
          </a:solidFill>
          <a:ln w="12700">
            <a:solidFill>
              <a:srgbClr val="1C4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976872" y="2066544"/>
            <a:ext cx="86868" cy="237744"/>
          </a:xfrm>
          <a:prstGeom prst="roundRect">
            <a:avLst>
              <a:gd name="adj" fmla="val 12000"/>
            </a:avLst>
          </a:prstGeom>
          <a:solidFill>
            <a:srgbClr val="C6D5E0"/>
          </a:solidFill>
          <a:ln w="12700">
            <a:solidFill>
              <a:srgbClr val="1C4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086600" y="1938528"/>
            <a:ext cx="86868" cy="365760"/>
          </a:xfrm>
          <a:prstGeom prst="roundRect">
            <a:avLst>
              <a:gd name="adj" fmla="val 12000"/>
            </a:avLst>
          </a:prstGeom>
          <a:solidFill>
            <a:srgbClr val="3EB4C8"/>
          </a:solidFill>
          <a:ln w="12700">
            <a:solidFill>
              <a:srgbClr val="1C4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6766560" y="1563624"/>
            <a:ext cx="182880" cy="64008"/>
          </a:xfrm>
          <a:prstGeom prst="line">
            <a:avLst/>
          </a:prstGeom>
          <a:ln w="15240">
            <a:solidFill>
              <a:srgbClr val="6E8C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6693408" y="1563624"/>
            <a:ext cx="73152" cy="201168"/>
          </a:xfrm>
          <a:prstGeom prst="line">
            <a:avLst/>
          </a:prstGeom>
          <a:ln w="15240">
            <a:solidFill>
              <a:srgbClr val="6E8C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721754" y="1518818"/>
            <a:ext cx="89611" cy="89611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E8C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911949" y="1590141"/>
            <a:ext cx="74980" cy="7498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E8C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V="1">
            <a:off x="6720840" y="1664208"/>
            <a:ext cx="438912" cy="457200"/>
          </a:xfrm>
          <a:prstGeom prst="line">
            <a:avLst/>
          </a:prstGeom>
          <a:ln w="38100">
            <a:solidFill>
              <a:srgbClr val="3E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958584" y="1929384"/>
            <a:ext cx="219456" cy="301752"/>
          </a:xfrm>
          <a:prstGeom prst="line">
            <a:avLst/>
          </a:prstGeom>
          <a:ln w="30480">
            <a:solidFill>
              <a:srgbClr val="3E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Gear 6 39"/>
          <p:cNvSpPr/>
          <p:nvPr/>
        </p:nvSpPr>
        <p:spPr>
          <a:xfrm>
            <a:off x="6345936" y="1563624"/>
            <a:ext cx="237744" cy="237744"/>
          </a:xfrm>
          <a:prstGeom prst="gear6">
            <a:avLst/>
          </a:prstGeom>
          <a:solidFill>
            <a:srgbClr val="FFFFFF"/>
          </a:solidFill>
          <a:ln w="17780">
            <a:solidFill>
              <a:srgbClr val="6E8C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16802" y="1634490"/>
            <a:ext cx="96012" cy="96012"/>
          </a:xfrm>
          <a:prstGeom prst="ellipse">
            <a:avLst/>
          </a:prstGeom>
          <a:solidFill>
            <a:srgbClr val="C6D5E0"/>
          </a:solidFill>
          <a:ln w="12700">
            <a:solidFill>
              <a:srgbClr val="6E8C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ear 6 41"/>
          <p:cNvSpPr/>
          <p:nvPr/>
        </p:nvSpPr>
        <p:spPr>
          <a:xfrm>
            <a:off x="6501384" y="1783080"/>
            <a:ext cx="438912" cy="438912"/>
          </a:xfrm>
          <a:prstGeom prst="gear6">
            <a:avLst/>
          </a:prstGeom>
          <a:solidFill>
            <a:srgbClr val="3EB4C8"/>
          </a:solidFill>
          <a:ln w="17780">
            <a:solidFill>
              <a:srgbClr val="1C4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583680" y="1865376"/>
            <a:ext cx="274320" cy="27432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3E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186537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1E6E84"/>
                </a:solidFill>
                <a:ea typeface="微软雅黑"/>
                <a:cs typeface="微软雅黑"/>
                <a:latin typeface="微软雅黑"/>
              </a:rPr>
              <a:t>$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70064" y="1572768"/>
            <a:ext cx="4160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C2864"/>
                </a:solidFill>
                <a:ea typeface="微软雅黑"/>
                <a:cs typeface="微软雅黑"/>
                <a:latin typeface="微软雅黑"/>
              </a:rPr>
              <a:t>FTP 动态联动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70064" y="1920240"/>
            <a:ext cx="4160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6E84"/>
                </a:solidFill>
                <a:ea typeface="微软雅黑 Light"/>
                <a:cs typeface="微软雅黑 Light"/>
                <a:latin typeface="微软雅黑 Light"/>
              </a:rPr>
              <a:t>以前瞻性模拟测算引导业务择优定价</a:t>
            </a:r>
          </a:p>
        </p:txBody>
      </p:sp>
      <p:sp>
        <p:nvSpPr>
          <p:cNvPr id="47" name="Oval 46"/>
          <p:cNvSpPr/>
          <p:nvPr/>
        </p:nvSpPr>
        <p:spPr>
          <a:xfrm>
            <a:off x="6473952" y="2384755"/>
            <a:ext cx="53035" cy="53035"/>
          </a:xfrm>
          <a:prstGeom prst="ellipse">
            <a:avLst/>
          </a:prstGeom>
          <a:solidFill>
            <a:srgbClr val="6E8C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20256" y="2322576"/>
            <a:ext cx="49103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将业务预测结果配置到FTP系统，配合收益率曲线与客户行为期权模型，前瞻性模拟测算各分支机构FTP净利息收入，引导基层择优揽存与定价。</a:t>
            </a:r>
          </a:p>
        </p:txBody>
      </p:sp>
      <p:sp>
        <p:nvSpPr>
          <p:cNvPr id="49" name="Oval 48"/>
          <p:cNvSpPr/>
          <p:nvPr/>
        </p:nvSpPr>
        <p:spPr>
          <a:xfrm>
            <a:off x="6473952" y="2713939"/>
            <a:ext cx="53035" cy="53035"/>
          </a:xfrm>
          <a:prstGeom prst="ellipse">
            <a:avLst/>
          </a:prstGeom>
          <a:solidFill>
            <a:srgbClr val="6E8C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0256" y="2651760"/>
            <a:ext cx="49103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动态调整FTP价格信号，实时传导市场与政策变化。</a:t>
            </a:r>
          </a:p>
        </p:txBody>
      </p:sp>
      <p:sp>
        <p:nvSpPr>
          <p:cNvPr id="51" name="Oval 50"/>
          <p:cNvSpPr/>
          <p:nvPr/>
        </p:nvSpPr>
        <p:spPr>
          <a:xfrm>
            <a:off x="6473952" y="3043123"/>
            <a:ext cx="53035" cy="53035"/>
          </a:xfrm>
          <a:prstGeom prst="ellipse">
            <a:avLst/>
          </a:prstGeom>
          <a:solidFill>
            <a:srgbClr val="6E8C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20256" y="2980944"/>
            <a:ext cx="49103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通过模拟测算，量化评估不同业务组合的FTP收益贡献。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3547872"/>
            <a:ext cx="5532120" cy="1975104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5875">
            <a:solidFill>
              <a:srgbClr val="E1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12647" y="3694176"/>
            <a:ext cx="603504" cy="49377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21590">
            <a:solidFill>
              <a:srgbClr val="6E8C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48309" y="3716121"/>
            <a:ext cx="38404" cy="38404"/>
          </a:xfrm>
          <a:prstGeom prst="ellipse">
            <a:avLst/>
          </a:prstGeom>
          <a:solidFill>
            <a:srgbClr val="6E8C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6889" y="3716121"/>
            <a:ext cx="38404" cy="38404"/>
          </a:xfrm>
          <a:prstGeom prst="ellipse">
            <a:avLst/>
          </a:prstGeom>
          <a:solidFill>
            <a:srgbClr val="6E8C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85469" y="3716121"/>
            <a:ext cx="38404" cy="38404"/>
          </a:xfrm>
          <a:prstGeom prst="ellipse">
            <a:avLst/>
          </a:prstGeom>
          <a:solidFill>
            <a:srgbClr val="6E8C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640080" y="3790187"/>
            <a:ext cx="548639" cy="0"/>
          </a:xfrm>
          <a:prstGeom prst="line">
            <a:avLst/>
          </a:prstGeom>
          <a:ln w="13970">
            <a:solidFill>
              <a:srgbClr val="C6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676656" y="4055363"/>
            <a:ext cx="56692" cy="100584"/>
          </a:xfrm>
          <a:prstGeom prst="roundRect">
            <a:avLst>
              <a:gd name="adj" fmla="val 14000"/>
            </a:avLst>
          </a:prstGeom>
          <a:solidFill>
            <a:srgbClr val="C6D5E0"/>
          </a:solidFill>
          <a:ln w="11430">
            <a:solidFill>
              <a:srgbClr val="6E8C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63524" y="3991356"/>
            <a:ext cx="56692" cy="164592"/>
          </a:xfrm>
          <a:prstGeom prst="roundRect">
            <a:avLst>
              <a:gd name="adj" fmla="val 14000"/>
            </a:avLst>
          </a:prstGeom>
          <a:solidFill>
            <a:srgbClr val="C6D5E0"/>
          </a:solidFill>
          <a:ln w="11430">
            <a:solidFill>
              <a:srgbClr val="6E8C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50392" y="3936491"/>
            <a:ext cx="56692" cy="219456"/>
          </a:xfrm>
          <a:prstGeom prst="roundRect">
            <a:avLst>
              <a:gd name="adj" fmla="val 14000"/>
            </a:avLst>
          </a:prstGeom>
          <a:solidFill>
            <a:srgbClr val="3EB4C8"/>
          </a:solidFill>
          <a:ln w="11430">
            <a:solidFill>
              <a:srgbClr val="6E8C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1179576" y="4242816"/>
            <a:ext cx="192024" cy="182880"/>
          </a:xfrm>
          <a:prstGeom prst="line">
            <a:avLst/>
          </a:prstGeom>
          <a:ln w="53340">
            <a:solidFill>
              <a:srgbClr val="6E8C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850392" y="3895344"/>
            <a:ext cx="402336" cy="402336"/>
          </a:xfrm>
          <a:prstGeom prst="ellipse">
            <a:avLst/>
          </a:prstGeom>
          <a:solidFill>
            <a:srgbClr val="FFFFFF"/>
          </a:solidFill>
          <a:ln w="33020">
            <a:solidFill>
              <a:srgbClr val="6E8C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0392" y="389534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3EB4C8"/>
                </a:solidFill>
                <a:ea typeface="微软雅黑"/>
                <a:cs typeface="微软雅黑"/>
                <a:latin typeface="微软雅黑"/>
              </a:rPr>
              <a:t>✓</a:t>
            </a:r>
          </a:p>
        </p:txBody>
      </p:sp>
      <p:sp>
        <p:nvSpPr>
          <p:cNvPr id="65" name="Oval 64"/>
          <p:cNvSpPr/>
          <p:nvPr/>
        </p:nvSpPr>
        <p:spPr>
          <a:xfrm>
            <a:off x="1229868" y="3671315"/>
            <a:ext cx="228600" cy="2286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6E8C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29868" y="3671315"/>
            <a:ext cx="228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6E8CA4"/>
                </a:solidFill>
                <a:ea typeface="微软雅黑"/>
                <a:cs typeface="微软雅黑"/>
                <a:latin typeface="微软雅黑"/>
              </a:rPr>
              <a:t>?</a:t>
            </a:r>
          </a:p>
        </p:txBody>
      </p:sp>
      <p:sp>
        <p:nvSpPr>
          <p:cNvPr id="67" name="Oval 66"/>
          <p:cNvSpPr/>
          <p:nvPr/>
        </p:nvSpPr>
        <p:spPr>
          <a:xfrm>
            <a:off x="649223" y="4187952"/>
            <a:ext cx="219456" cy="219456"/>
          </a:xfrm>
          <a:prstGeom prst="ellipse">
            <a:avLst/>
          </a:prstGeom>
          <a:solidFill>
            <a:srgbClr val="9EDAE4"/>
          </a:solidFill>
          <a:ln w="17780">
            <a:solidFill>
              <a:srgbClr val="3E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9223" y="4187952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1E6E84"/>
                </a:solidFill>
                <a:ea typeface="微软雅黑"/>
                <a:cs typeface="微软雅黑"/>
                <a:latin typeface="微软雅黑"/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627632" y="3730752"/>
            <a:ext cx="4160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C2864"/>
                </a:solidFill>
                <a:ea typeface="微软雅黑"/>
                <a:cs typeface="微软雅黑"/>
                <a:latin typeface="微软雅黑"/>
              </a:rPr>
              <a:t>偏差监控与归因考核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27632" y="4078224"/>
            <a:ext cx="4160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6E84"/>
                </a:solidFill>
                <a:ea typeface="微软雅黑 Light"/>
                <a:cs typeface="微软雅黑 Light"/>
                <a:latin typeface="微软雅黑 Light"/>
              </a:rPr>
              <a:t>精准归因偏差根源，确保考核公平公正</a:t>
            </a:r>
          </a:p>
        </p:txBody>
      </p:sp>
      <p:sp>
        <p:nvSpPr>
          <p:cNvPr id="71" name="Oval 70"/>
          <p:cNvSpPr/>
          <p:nvPr/>
        </p:nvSpPr>
        <p:spPr>
          <a:xfrm>
            <a:off x="731520" y="4542739"/>
            <a:ext cx="53035" cy="53035"/>
          </a:xfrm>
          <a:prstGeom prst="ellipse">
            <a:avLst/>
          </a:prstGeom>
          <a:solidFill>
            <a:srgbClr val="6E8C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77824" y="4480560"/>
            <a:ext cx="49103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建立预算与实际执行偏差的实时监控与预警机制。</a:t>
            </a:r>
          </a:p>
        </p:txBody>
      </p:sp>
      <p:sp>
        <p:nvSpPr>
          <p:cNvPr id="73" name="Oval 72"/>
          <p:cNvSpPr/>
          <p:nvPr/>
        </p:nvSpPr>
        <p:spPr>
          <a:xfrm>
            <a:off x="731520" y="4871923"/>
            <a:ext cx="53035" cy="53035"/>
          </a:xfrm>
          <a:prstGeom prst="ellipse">
            <a:avLst/>
          </a:prstGeom>
          <a:solidFill>
            <a:srgbClr val="6E8C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77824" y="4809744"/>
            <a:ext cx="49103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运用数据分析技术，深度归因偏差产生的关键驱动因素（量、价、结构、政策）。</a:t>
            </a:r>
          </a:p>
        </p:txBody>
      </p:sp>
      <p:sp>
        <p:nvSpPr>
          <p:cNvPr id="75" name="Oval 74"/>
          <p:cNvSpPr/>
          <p:nvPr/>
        </p:nvSpPr>
        <p:spPr>
          <a:xfrm>
            <a:off x="731520" y="5201107"/>
            <a:ext cx="53035" cy="53035"/>
          </a:xfrm>
          <a:prstGeom prst="ellipse">
            <a:avLst/>
          </a:prstGeom>
          <a:solidFill>
            <a:srgbClr val="6E8C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77824" y="5138928"/>
            <a:ext cx="49103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将归因结果纳入考核体系，实现基于可控因素的差异化评价。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199632" y="3547872"/>
            <a:ext cx="5532120" cy="1975104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5875">
            <a:solidFill>
              <a:srgbClr val="E1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Isosceles Triangle 77"/>
          <p:cNvSpPr/>
          <p:nvPr/>
        </p:nvSpPr>
        <p:spPr>
          <a:xfrm>
            <a:off x="6656832" y="3694176"/>
            <a:ext cx="310896" cy="265176"/>
          </a:xfrm>
          <a:prstGeom prst="triangle">
            <a:avLst/>
          </a:prstGeom>
          <a:solidFill>
            <a:srgbClr val="9EDAE4"/>
          </a:solidFill>
          <a:ln w="20320">
            <a:solidFill>
              <a:srgbClr val="1E6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656832" y="3789639"/>
            <a:ext cx="310896" cy="1378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1E6E84"/>
                </a:solidFill>
                <a:ea typeface="微软雅黑"/>
                <a:cs typeface="微软雅黑"/>
                <a:latin typeface="微软雅黑"/>
              </a:rPr>
              <a:t>!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400800" y="3995928"/>
            <a:ext cx="822960" cy="448056"/>
          </a:xfrm>
          <a:prstGeom prst="roundRect">
            <a:avLst>
              <a:gd name="adj" fmla="val 32000"/>
            </a:avLst>
          </a:prstGeom>
          <a:solidFill>
            <a:srgbClr val="C6D5E0"/>
          </a:solidFill>
          <a:ln w="21590">
            <a:solidFill>
              <a:srgbClr val="6E8C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467094" y="4107941"/>
            <a:ext cx="160020" cy="1600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E8C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 flipV="1">
            <a:off x="6547104" y="4142232"/>
            <a:ext cx="41148" cy="45720"/>
          </a:xfrm>
          <a:prstGeom prst="line">
            <a:avLst/>
          </a:prstGeom>
          <a:ln w="16510">
            <a:solidFill>
              <a:srgbClr val="6E8C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6997446" y="4107941"/>
            <a:ext cx="160020" cy="1600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E8C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 flipV="1">
            <a:off x="7077456" y="4142232"/>
            <a:ext cx="41148" cy="45720"/>
          </a:xfrm>
          <a:prstGeom prst="line">
            <a:avLst/>
          </a:prstGeom>
          <a:ln w="16510">
            <a:solidFill>
              <a:srgbClr val="6E8C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6620256" y="3995928"/>
            <a:ext cx="384048" cy="384048"/>
          </a:xfrm>
          <a:prstGeom prst="ellipse">
            <a:avLst/>
          </a:prstGeom>
          <a:solidFill>
            <a:srgbClr val="9EDAE4"/>
          </a:solidFill>
          <a:ln w="20320">
            <a:solidFill>
              <a:srgbClr val="3E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684264" y="405993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 flipV="1">
            <a:off x="6812280" y="4059936"/>
            <a:ext cx="0" cy="128016"/>
          </a:xfrm>
          <a:prstGeom prst="line">
            <a:avLst/>
          </a:prstGeom>
          <a:ln w="27940">
            <a:solidFill>
              <a:srgbClr val="6E8C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812280" y="4187952"/>
            <a:ext cx="110865" cy="64008"/>
          </a:xfrm>
          <a:prstGeom prst="line">
            <a:avLst/>
          </a:prstGeom>
          <a:ln w="27940">
            <a:solidFill>
              <a:srgbClr val="6E8C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>
            <a:off x="6701414" y="4187952"/>
            <a:ext cx="110866" cy="64008"/>
          </a:xfrm>
          <a:prstGeom prst="line">
            <a:avLst/>
          </a:prstGeom>
          <a:ln w="27940">
            <a:solidFill>
              <a:srgbClr val="6E8C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6757416" y="4133088"/>
            <a:ext cx="109728" cy="109728"/>
          </a:xfrm>
          <a:prstGeom prst="ellipse">
            <a:avLst/>
          </a:prstGeom>
          <a:solidFill>
            <a:srgbClr val="3EB4C8"/>
          </a:solidFill>
          <a:ln w="12700">
            <a:solidFill>
              <a:srgbClr val="1C4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370064" y="3730752"/>
            <a:ext cx="4160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C2864"/>
                </a:solidFill>
                <a:ea typeface="微软雅黑"/>
                <a:cs typeface="微软雅黑"/>
                <a:latin typeface="微软雅黑"/>
              </a:rPr>
              <a:t>ALCO 驾驶舱与实时预警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70064" y="4078224"/>
            <a:ext cx="4160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E6E84"/>
                </a:solidFill>
                <a:ea typeface="微软雅黑 Light"/>
                <a:cs typeface="微软雅黑 Light"/>
                <a:latin typeface="微软雅黑 Light"/>
              </a:rPr>
              <a:t>实时掌控流动性与风险底线，分钟级情景模拟</a:t>
            </a:r>
          </a:p>
        </p:txBody>
      </p:sp>
      <p:sp>
        <p:nvSpPr>
          <p:cNvPr id="93" name="Oval 92"/>
          <p:cNvSpPr/>
          <p:nvPr/>
        </p:nvSpPr>
        <p:spPr>
          <a:xfrm>
            <a:off x="6473952" y="4542739"/>
            <a:ext cx="53035" cy="53035"/>
          </a:xfrm>
          <a:prstGeom prst="ellipse">
            <a:avLst/>
          </a:prstGeom>
          <a:solidFill>
            <a:srgbClr val="6E8C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620256" y="4480560"/>
            <a:ext cx="49103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集成 LCR（流动性覆盖率）和 NSFR（净稳定资金比例）等关键指标的实时监控与早期预警。</a:t>
            </a:r>
          </a:p>
        </p:txBody>
      </p:sp>
      <p:sp>
        <p:nvSpPr>
          <p:cNvPr id="95" name="Oval 94"/>
          <p:cNvSpPr/>
          <p:nvPr/>
        </p:nvSpPr>
        <p:spPr>
          <a:xfrm>
            <a:off x="6473952" y="4871923"/>
            <a:ext cx="53035" cy="53035"/>
          </a:xfrm>
          <a:prstGeom prst="ellipse">
            <a:avLst/>
          </a:prstGeom>
          <a:solidFill>
            <a:srgbClr val="6E8C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620256" y="4809744"/>
            <a:ext cx="49103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支持分钟级快速运行多情景压力测试与模拟分析，评估极端市场条件下的风险敞口。</a:t>
            </a:r>
          </a:p>
        </p:txBody>
      </p:sp>
      <p:sp>
        <p:nvSpPr>
          <p:cNvPr id="97" name="Oval 96"/>
          <p:cNvSpPr/>
          <p:nvPr/>
        </p:nvSpPr>
        <p:spPr>
          <a:xfrm>
            <a:off x="6473952" y="5201107"/>
            <a:ext cx="53035" cy="53035"/>
          </a:xfrm>
          <a:prstGeom prst="ellipse">
            <a:avLst/>
          </a:prstGeom>
          <a:solidFill>
            <a:srgbClr val="6E8C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620256" y="5138928"/>
            <a:ext cx="49103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262626"/>
                </a:solidFill>
                <a:ea typeface="微软雅黑"/>
                <a:cs typeface="微软雅黑"/>
                <a:latin typeface="微软雅黑"/>
              </a:rPr>
              <a:t>提供直观的可视化驾驶舱界面，辅助 ALCO 委员会快速决策。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57200" y="5614416"/>
            <a:ext cx="11274552" cy="475488"/>
          </a:xfrm>
          <a:prstGeom prst="roundRect">
            <a:avLst>
              <a:gd name="adj" fmla="val 15000"/>
            </a:avLst>
          </a:prstGeom>
          <a:solidFill>
            <a:srgbClr val="0C2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85800" y="5614416"/>
            <a:ext cx="1081735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FFFFFF"/>
                </a:solidFill>
                <a:ea typeface="微软雅黑"/>
                <a:cs typeface="微软雅黑"/>
                <a:latin typeface="微软雅黑"/>
              </a:rPr>
              <a:t>以业务规模预测打通预算-FTP-考核-ALCO链路，实现经营决策从经验估计走向精准算力驱动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57200" y="6181344"/>
            <a:ext cx="112745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778495"/>
                </a:solidFill>
                <a:ea typeface="微软雅黑 Light"/>
                <a:cs typeface="微软雅黑 Light"/>
                <a:latin typeface="微软雅黑 Light"/>
              </a:rPr>
              <a:t>数据来源：中信银行内部管理制度 · 监管报送口径 · 财务管理与资产负债管理实践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457200" y="6455664"/>
            <a:ext cx="11274552" cy="0"/>
          </a:xfrm>
          <a:prstGeom prst="line">
            <a:avLst/>
          </a:prstGeom>
          <a:ln w="952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457200" y="651052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B4593"/>
                </a:solidFill>
                <a:ea typeface="微软雅黑"/>
                <a:cs typeface="微软雅黑"/>
                <a:latin typeface="微软雅黑"/>
              </a:rPr>
              <a:t>中信银行  CITIC BANK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023360" y="651052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778495"/>
                </a:solidFill>
                <a:ea typeface="微软雅黑 Light"/>
                <a:cs typeface="微软雅黑 Light"/>
                <a:latin typeface="微软雅黑 Light"/>
              </a:rPr>
              <a:t>方案 · 经营分析落地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875520" y="6510528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 i="0">
                <a:solidFill>
                  <a:srgbClr val="1B4593"/>
                </a:solidFill>
                <a:ea typeface="Arial"/>
                <a:cs typeface="Arial"/>
                <a:latin typeface="Arial"/>
              </a:rPr>
              <a:t>P 006 / 006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