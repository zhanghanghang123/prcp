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PRCP · 组合管理测算平台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73152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P 001 / 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行业现状与难题：四大攻坚挑战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软雅黑"/>
              </a:rPr>
              <a:t>PRCP 项目建设的必要性 · 银行业资负预测的早期阶段普遍面临的核心问题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65760" y="0"/>
            <a:ext cx="11091672" cy="658368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629400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</a:rPr>
              <a:t>数据来源：PRCP 业务模块需求说明书 · 数据库设计_v2.md · 产品原型设计_v2.md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9400"/>
            <a:ext cx="1645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/>
              </a:rPr>
              <a:t>P 001 / 006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0" y="1645920"/>
            <a:ext cx="5943600" cy="2926080"/>
          </a:xfrm>
          <a:prstGeom prst="line">
            <a:avLst/>
          </a:prstGeom>
          <a:ln w="1270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8640" y="1737360"/>
            <a:ext cx="530352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737360"/>
            <a:ext cx="137160" cy="228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87452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>
                <a:solidFill>
                  <a:srgbClr val="1F4E79"/>
                </a:solidFill>
                <a:latin typeface="微软雅黑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96596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微软雅黑"/>
              </a:rPr>
              <a:t>覆盖难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37744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微软雅黑"/>
              </a:rPr>
              <a:t>全业务品种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926080"/>
            <a:ext cx="48463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/>
              </a:rPr>
              <a:t>表内+表外全业务口径下，
数百业务品种需逐一建模覆盖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737360"/>
            <a:ext cx="530352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737360"/>
            <a:ext cx="137160" cy="228600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87452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>
                <a:solidFill>
                  <a:srgbClr val="C0504D"/>
                </a:solidFill>
                <a:latin typeface="微软雅黑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196596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微软雅黑"/>
              </a:rPr>
              <a:t>预测难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C0504D"/>
                </a:solidFill>
                <a:latin typeface="微软雅黑"/>
              </a:rPr>
              <a:t>3-5 年长周期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26080"/>
            <a:ext cx="48463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/>
              </a:rPr>
              <a:t>长周期、多情景叠加下，
量化精度易受宏观变量扰动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06240"/>
            <a:ext cx="530352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06240"/>
            <a:ext cx="137160" cy="2286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4340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>
                <a:solidFill>
                  <a:srgbClr val="70AD47"/>
                </a:solidFill>
                <a:latin typeface="微软雅黑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43484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微软雅黑"/>
              </a:rPr>
              <a:t>平衡难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84632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70AD47"/>
                </a:solidFill>
                <a:latin typeface="微软雅黑"/>
              </a:rPr>
              <a:t>多目标平衡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94960"/>
            <a:ext cx="48463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/>
              </a:rPr>
              <a:t>兼顾盈利、流动性、安全性，
多重约束下求解难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206240"/>
            <a:ext cx="530352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206240"/>
            <a:ext cx="137160" cy="2286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34340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>
                <a:solidFill>
                  <a:srgbClr val="ED7D31"/>
                </a:solidFill>
                <a:latin typeface="微软雅黑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43484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微软雅黑"/>
              </a:rPr>
              <a:t>成熟难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84632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微软雅黑"/>
              </a:rPr>
              <a:t>早期探索阶段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394960"/>
            <a:ext cx="484632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微软雅黑"/>
              </a:rPr>
              <a:t>国内银行均处早期局部探索阶段，
尚未形成稳定成熟的系统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1">
                <a:solidFill>
                  <a:srgbClr val="1F4E79"/>
                </a:solidFill>
                <a:latin typeface="微软雅黑"/>
              </a:rPr>
              <a:t>PRCP 四大建设方向：全口径账户册 · 滚动动态推演 · 多算法融合 · 模型持续进化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PRCP · 组合管理测算平台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73152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P 002 / 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PRCP 端到端业务流程图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软雅黑"/>
              </a:rPr>
              <a:t>六 大 业 务 模 块 链 路 · 账 户 册 → 基 础 数 据 → 指 标 管 理 → 模 型 管 理 → 组 合 反 算 → 反 算 结 果 查 询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65760" y="0"/>
            <a:ext cx="11091672" cy="658368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629400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</a:rPr>
              <a:t>数据来源：PRCP 业务模块需求说明书 · 数据库设计_v2.md · 产品原型设计_v2.md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9400"/>
            <a:ext cx="1645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/>
              </a:rPr>
              <a:t>P 002 / 006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447" y="1828800"/>
            <a:ext cx="1691640" cy="22860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447" y="2011680"/>
            <a:ext cx="1691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F01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447" y="2606040"/>
            <a:ext cx="1691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账户册维护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3108960"/>
            <a:ext cx="1508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19 节点 × 4 类
结构化账户册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291943" y="2834640"/>
            <a:ext cx="1828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65679" y="1828800"/>
            <a:ext cx="1691640" cy="22860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5679" y="2011680"/>
            <a:ext cx="1691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F02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5679" y="2606040"/>
            <a:ext cx="1691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基础数据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7119" y="3108960"/>
            <a:ext cx="1508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6 类指标 + 资产负债表
24 月现金流缺口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148175" y="2834640"/>
            <a:ext cx="1828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1911" y="1828800"/>
            <a:ext cx="1691640" cy="22860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1911" y="2011680"/>
            <a:ext cx="1691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F03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1911" y="2606040"/>
            <a:ext cx="1691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指标管理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3351" y="3108960"/>
            <a:ext cx="1508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公式指标 + 函数指标
双类型支持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004407" y="2834640"/>
            <a:ext cx="1828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78143" y="1828800"/>
            <a:ext cx="1691640" cy="22860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8143" y="2011680"/>
            <a:ext cx="1691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F04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8143" y="2606040"/>
            <a:ext cx="1691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模型管理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9583" y="3108960"/>
            <a:ext cx="1508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参数版本 + 参数 + 训练
SSE 实时进度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60639" y="2834640"/>
            <a:ext cx="1828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34375" y="1828800"/>
            <a:ext cx="1691640" cy="2286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34375" y="2011680"/>
            <a:ext cx="1691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F05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4375" y="2606040"/>
            <a:ext cx="1691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组合反算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5815" y="3108960"/>
            <a:ext cx="1508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CVXPY QP/LP 求解
多目标加权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9716871" y="2834640"/>
            <a:ext cx="182880" cy="27432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890607" y="1828800"/>
            <a:ext cx="1691640" cy="2286000"/>
          </a:xfrm>
          <a:prstGeom prst="roundRect">
            <a:avLst/>
          </a:prstGeom>
          <a:solidFill>
            <a:srgbClr val="703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90607" y="2011680"/>
            <a:ext cx="1691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F06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90607" y="2606040"/>
            <a:ext cx="1691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反算结果查询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82047" y="3108960"/>
            <a:ext cx="15087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6 KPI + 6 ECharts
8 预警 + 5 AI 建议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1417320"/>
            <a:ext cx="11430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微软雅黑"/>
              </a:rPr>
              <a:t>↓ 数据底座 ↓    ↓ 业务规则 ↓    ↓ 反算执行 ↓    ↓ 决策支持 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38912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微软雅黑"/>
              </a:rPr>
              <a:t>关键技术栈：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84632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</a:rPr>
              <a:t>前端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484632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React + AntD + Vite + ECharts 6 张图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484632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</a:rPr>
              <a:t>后端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60" y="484632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FastAPI + SQLAlchemy 2 + cvxpy 求解器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84632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</a:rPr>
              <a:t>数据库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484632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MySQL 8 + Redis + 19+ 表 + 时间字段规范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34924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</a:rPr>
              <a:t>AI 引擎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534924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DeepSeek LLM + PyTorch + 神经网络奖励塑形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534924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</a:rPr>
              <a:t>实时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66360" y="534924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SSE 进度推送 + 多情景并发反算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5349240"/>
            <a:ext cx="731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</a:rPr>
              <a:t>数据治理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5349240"/>
            <a:ext cx="3017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软删除 + 审计日志 + 字段级权限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0350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微软雅黑"/>
              </a:rPr>
              <a:t>✓ 端到端覆盖账户册建模 → 数据维护 → 指标定义 → 模型训练 → 反算执行 → 驾驶舱展示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PRCP · 组合管理测算平台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73152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P 003 / 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基础数据 + 指标管理：数据治理与业务规则构建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软雅黑"/>
              </a:rPr>
              <a:t>F02 基础数据（6 类指标 + 资产负债表） + F03 指标管理（公式 + 函数双引擎）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65760" y="0"/>
            <a:ext cx="11091672" cy="658368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629400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</a:rPr>
              <a:t>数据来源：PRCP 业务模块需求说明书 · 数据库设计_v2.md · 产品原型设计_v2.md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9400"/>
            <a:ext cx="1645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/>
              </a:rPr>
              <a:t>P 003 / 006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0504D"/>
                </a:solidFill>
                <a:latin typeface="微软雅黑"/>
              </a:rPr>
              <a:t>F02 数据基础数据流程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6 类指标 + 资产负债表 24 月现金流缺口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86000"/>
            <a:ext cx="457200" cy="4572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50008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30428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微软雅黑"/>
              </a:rPr>
              <a:t>选择报表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542032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Select 选择报表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0" y="91440"/>
            <a:ext cx="777240" cy="2651760"/>
          </a:xfrm>
          <a:prstGeom prst="line">
            <a:avLst/>
          </a:prstGeom>
          <a:ln w="254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2834640"/>
            <a:ext cx="457200" cy="4572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898648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8529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微软雅黑"/>
              </a:rPr>
              <a:t>选节点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090672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左侧树形账户册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0" y="91440"/>
            <a:ext cx="777240" cy="3200400"/>
          </a:xfrm>
          <a:prstGeom prst="line">
            <a:avLst/>
          </a:prstGeom>
          <a:ln w="254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" y="3383280"/>
            <a:ext cx="457200" cy="4572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47288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40156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微软雅黑"/>
              </a:rPr>
              <a:t>配表项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639312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分子/分母多选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0" y="91440"/>
            <a:ext cx="777240" cy="3749040"/>
          </a:xfrm>
          <a:prstGeom prst="line">
            <a:avLst/>
          </a:prstGeom>
          <a:ln w="254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48640" y="3931920"/>
            <a:ext cx="457200" cy="4572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995928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95020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微软雅黑"/>
              </a:rPr>
              <a:t>录值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187952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当前值 DECIMAL(20,4)</a:t>
            </a:r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0" y="91440"/>
            <a:ext cx="777240" cy="4297680"/>
          </a:xfrm>
          <a:prstGeom prst="line">
            <a:avLst/>
          </a:prstGeom>
          <a:ln w="254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48640" y="4480560"/>
            <a:ext cx="457200" cy="4572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544568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49884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微软雅黑"/>
              </a:rPr>
              <a:t>导入/导出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736592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Excel 校验 + 预览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12080"/>
            <a:ext cx="548640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285232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0504D"/>
                </a:solidFill>
                <a:latin typeface="微软雅黑"/>
              </a:rPr>
              <a:t>关键能力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532120"/>
            <a:ext cx="53035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✓ 6 类指标统一表结构（rpt_item_id + data_date + value）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760720"/>
            <a:ext cx="53035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✓ 资产负债表 24 月现金流缺口 m1_gap~m24_gap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89320"/>
            <a:ext cx="53035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✓ 公式自动生成：SUM(分子) / SUM(分母)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17920"/>
            <a:ext cx="53035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✓ Excel 导入校验 + 预览计算 + 软删除机制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微软雅黑"/>
              </a:rPr>
              <a:t>F03 数据指标管理流程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1874519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公式指标 + 函数指标（白名单脚本动态加载）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2286000"/>
            <a:ext cx="457200" cy="4572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2350008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230428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微软雅黑"/>
              </a:rPr>
              <a:t>指标定义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2542032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kpi_code + kpi_name + rpt_id</a:t>
            </a:r>
          </a:p>
        </p:txBody>
      </p:sp>
      <p:cxnSp>
        <p:nvCxnSpPr>
          <p:cNvPr id="48" name="Connector 47"/>
          <p:cNvCxnSpPr/>
          <p:nvPr/>
        </p:nvCxnSpPr>
        <p:spPr>
          <a:xfrm flipH="1" flipV="1">
            <a:off x="0" y="91440"/>
            <a:ext cx="6629400" cy="2651760"/>
          </a:xfrm>
          <a:prstGeom prst="line">
            <a:avLst/>
          </a:prstGeom>
          <a:ln w="254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6400800" y="2834640"/>
            <a:ext cx="457200" cy="4572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2898648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285292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微软雅黑"/>
              </a:rPr>
              <a:t>类型选择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3090672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公式（formula）/ 函数（script）</a:t>
            </a:r>
          </a:p>
        </p:txBody>
      </p:sp>
      <p:cxnSp>
        <p:nvCxnSpPr>
          <p:cNvPr id="53" name="Connector 52"/>
          <p:cNvCxnSpPr/>
          <p:nvPr/>
        </p:nvCxnSpPr>
        <p:spPr>
          <a:xfrm flipH="1" flipV="1">
            <a:off x="0" y="91440"/>
            <a:ext cx="6629400" cy="3200400"/>
          </a:xfrm>
          <a:prstGeom prst="line">
            <a:avLst/>
          </a:prstGeom>
          <a:ln w="254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6400800" y="3383280"/>
            <a:ext cx="457200" cy="4572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447288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0" y="340156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微软雅黑"/>
              </a:rPr>
              <a:t>公式录入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0" y="3639312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引用同报表表项</a:t>
            </a:r>
          </a:p>
        </p:txBody>
      </p:sp>
      <p:cxnSp>
        <p:nvCxnSpPr>
          <p:cNvPr id="58" name="Connector 57"/>
          <p:cNvCxnSpPr/>
          <p:nvPr/>
        </p:nvCxnSpPr>
        <p:spPr>
          <a:xfrm flipH="1" flipV="1">
            <a:off x="0" y="91440"/>
            <a:ext cx="6629400" cy="3749040"/>
          </a:xfrm>
          <a:prstGeom prst="line">
            <a:avLst/>
          </a:prstGeom>
          <a:ln w="254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6400800" y="3931920"/>
            <a:ext cx="457200" cy="4572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0" y="3995928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395020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微软雅黑"/>
              </a:rPr>
              <a:t>指标维护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0" y="4187952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按 data_date 录入 kpi_value</a:t>
            </a:r>
          </a:p>
        </p:txBody>
      </p:sp>
      <p:cxnSp>
        <p:nvCxnSpPr>
          <p:cNvPr id="63" name="Connector 62"/>
          <p:cNvCxnSpPr/>
          <p:nvPr/>
        </p:nvCxnSpPr>
        <p:spPr>
          <a:xfrm flipH="1" flipV="1">
            <a:off x="0" y="91440"/>
            <a:ext cx="6629400" cy="4297680"/>
          </a:xfrm>
          <a:prstGeom prst="line">
            <a:avLst/>
          </a:prstGeom>
          <a:ln w="254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6400800" y="4480560"/>
            <a:ext cx="457200" cy="4572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4544568"/>
            <a:ext cx="457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40880" y="449884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微软雅黑"/>
              </a:rPr>
              <a:t>函数执行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80" y="4736592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importlib + mtime 自动 reload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0" y="5212080"/>
            <a:ext cx="548640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60" y="5285232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70AD47"/>
                </a:solidFill>
                <a:latin typeface="微软雅黑"/>
              </a:rPr>
              <a:t>关键能力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5532120"/>
            <a:ext cx="53035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✓ indicator_type 区分公式（1）和函数（2）指标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0" y="5760720"/>
            <a:ext cx="53035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✓ script_path + script_name 字段（函数指标）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9360" y="5989320"/>
            <a:ext cx="53035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✓ 白名单目录 kpi_functions/ 动态 importlib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9360" y="6217920"/>
            <a:ext cx="530352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✓ mtime 变化自动 reload + 公式/函数并行执行</a:t>
            </a:r>
          </a:p>
        </p:txBody>
      </p:sp>
      <p:sp>
        <p:nvSpPr>
          <p:cNvPr id="74" name="Right Arrow 73"/>
          <p:cNvSpPr/>
          <p:nvPr/>
        </p:nvSpPr>
        <p:spPr>
          <a:xfrm>
            <a:off x="5029200" y="5852160"/>
            <a:ext cx="1188720" cy="27432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9200" y="6126480"/>
            <a:ext cx="11887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900" b="0">
                <a:solidFill>
                  <a:srgbClr val="1F4E79"/>
                </a:solidFill>
                <a:latin typeface="微软雅黑"/>
              </a:rPr>
              <a:t>↑ 数据准备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PRCP · 组合管理测算平台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73152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P 004 / 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模型管理 + 组合反算：业务规则驱动的最优求解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软雅黑"/>
              </a:rPr>
              <a:t>F04 模型管理（参数版本化 + 训练）+ F05 组合反算（CVXPY 求解 + 多目标加权）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65760" y="0"/>
            <a:ext cx="11091672" cy="658368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629400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</a:rPr>
              <a:t>数据来源：PRCP 业务模块需求说明书 · 数据库设计_v2.md · 产品原型设计_v2.md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9400"/>
            <a:ext cx="1645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/>
              </a:rPr>
              <a:t>P 004 / 006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5B9BD5"/>
                </a:solidFill>
                <a:latin typeface="微软雅黑"/>
              </a:rPr>
              <a:t>F04 模型管理流程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版本维护 → 参数维护 → 训练 三阶段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5303520" cy="109728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Stage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版本维护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model_code + parent_id
（自引用版本继承）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377440" y="3383280"/>
            <a:ext cx="1188720" cy="164592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566160"/>
            <a:ext cx="5303520" cy="109728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Stage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参数维护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343400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model_id + param_code + value
DECIMAL(20,6)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377440" y="4663440"/>
            <a:ext cx="1188720" cy="164592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5303520" cy="109728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Stage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120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模型训练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23560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status + progress
SSE 实时进度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微软雅黑"/>
              </a:rPr>
              <a:t>F05 组合反算流程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874519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方案新增 → 反算触发 → 状态跟踪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286000"/>
            <a:ext cx="5303520" cy="10972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Stage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6517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方案新增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063240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scheme_code + indicator_id
target_value + weight
status=DRAFT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229600" y="3383280"/>
            <a:ext cx="1188720" cy="164592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09360" y="3566160"/>
            <a:ext cx="5303520" cy="109728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65760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Stage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93192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反算触发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343400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校验：active 模型版本
approved 账户册
异步提交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229600" y="4663440"/>
            <a:ext cx="1188720" cy="164592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09360" y="4846320"/>
            <a:ext cx="5303520" cy="109728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93776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Stage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2120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/>
              </a:rPr>
              <a:t>状态跟踪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623560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PENDING → RUNNING
→ COMPLETED/FAILED
SSE 推送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172200"/>
            <a:ext cx="113385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微软雅黑"/>
              </a:rPr>
              <a:t>✓ F04 模型训练 → 输出 prcp_model_param → F05 组合反算读取参数 → CVXPY 求解 → 写入 prcp_data_reverse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PRCP · 组合管理测算平台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73152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P 005 / 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反算结果查询：驾驶舱式的决策支持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软雅黑"/>
              </a:rPr>
              <a:t>F06 反算结果查询 · 方案 × 模型 × 情景 三维聚合 · 24 月预测 + 6 KPI + 6 ECharts + 8 预警 + 5 AI 建议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65760" y="0"/>
            <a:ext cx="11091672" cy="658368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629400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</a:rPr>
              <a:t>数据来源：PRCP 业务模块需求说明书 · 数据库设计_v2.md · 产品原型设计_v2.md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9400"/>
            <a:ext cx="1645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/>
              </a:rPr>
              <a:t>P 005 / 006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70328F"/>
                </a:solidFill>
                <a:latin typeface="微软雅黑"/>
              </a:rPr>
              <a:t>反算结果查询 5 阶段流程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5029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从方案选择到报表导出的完整路径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86000"/>
            <a:ext cx="640080" cy="640080"/>
          </a:xfrm>
          <a:prstGeom prst="roundRect">
            <a:avLst/>
          </a:prstGeom>
          <a:solidFill>
            <a:srgbClr val="703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77440"/>
            <a:ext cx="640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37744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微软雅黑"/>
              </a:rPr>
              <a:t>① 方案选择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70048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下拉选已完成方案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0" y="137160"/>
            <a:ext cx="777240" cy="2788920"/>
          </a:xfrm>
          <a:prstGeom prst="line">
            <a:avLst/>
          </a:prstGeom>
          <a:ln w="25400">
            <a:solidFill>
              <a:srgbClr val="7032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3063240"/>
            <a:ext cx="64008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54680"/>
            <a:ext cx="640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15468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微软雅黑"/>
              </a:rPr>
              <a:t>② 快照生成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447288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GET /api/dashboard/reverse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0" y="137160"/>
            <a:ext cx="777240" cy="356616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7200" y="3840480"/>
            <a:ext cx="640080" cy="64008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640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93192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微软雅黑"/>
              </a:rPr>
              <a:t>③ 驾驶舱展示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224528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6 KPI + 6 ECharts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0" y="137160"/>
            <a:ext cx="777240" cy="4343400"/>
          </a:xfrm>
          <a:prstGeom prst="line">
            <a:avLst/>
          </a:prstGeom>
          <a:ln w="25400">
            <a:solidFill>
              <a:srgbClr val="70AD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57200" y="4617720"/>
            <a:ext cx="640080" cy="64008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709160"/>
            <a:ext cx="640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70916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微软雅黑"/>
              </a:rPr>
              <a:t>④ 多情景对比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001768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4 情景 × 6 KPI</a:t>
            </a:r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0" y="137160"/>
            <a:ext cx="777240" cy="5120640"/>
          </a:xfrm>
          <a:prstGeom prst="line">
            <a:avLst/>
          </a:prstGeom>
          <a:ln w="25400">
            <a:solidFill>
              <a:srgbClr val="C050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" y="5394960"/>
            <a:ext cx="640080" cy="6400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486400"/>
            <a:ext cx="640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486400"/>
            <a:ext cx="4114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微软雅黑"/>
              </a:rPr>
              <a:t>⑤ 报表导出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779008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PDF + Excel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1554480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70328F"/>
                </a:solidFill>
                <a:latin typeface="微软雅黑"/>
              </a:rPr>
              <a:t>驾驶舱 4 类指标体系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1874519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/>
              </a:rPr>
              <a:t>从"预测数据"到"经营决策语言"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0" y="2286000"/>
            <a:ext cx="2651760" cy="1828800"/>
          </a:xfrm>
          <a:prstGeom prst="roundRect">
            <a:avLst/>
          </a:prstGeom>
          <a:solidFill>
            <a:srgbClr val="703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242316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6 大 KPI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2926080"/>
            <a:ext cx="2468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NIM/NII/GAP
LMR/CAR/WAC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69680" y="2286000"/>
            <a:ext cx="2651760" cy="18288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0" y="242316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6 张 ECharts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2926080"/>
            <a:ext cx="2468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24 月 NII 预测
热力图/雷达/瀑布/堆叠/TOP10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4251960"/>
            <a:ext cx="2651760" cy="18288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0" y="438912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8 项风险预警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4892040"/>
            <a:ext cx="2468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按严重度排序
LMR/CAR/GAP/NIM 阈值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69680" y="4251960"/>
            <a:ext cx="2651760" cy="18288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20" y="438912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5 项 AI 建议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4892040"/>
            <a:ext cx="246888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DeepSeek LLM 生成
含预期影响金额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989320"/>
            <a:ext cx="114300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035040"/>
            <a:ext cx="113385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微软雅黑"/>
              </a:rPr>
              <a:t>数据源：prcp_data_reverse (19 节点 × 24 期 × 4 情景 = 1824 个数据点)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263640"/>
            <a:ext cx="113385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✓ 字段维度：scheme_code + run_id + coa_node_id + data_date + date_offset + 13 期 orig/rem 期限桶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PRCP · 组合管理测算平台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73152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</a:rPr>
              <a:t>P 006 / 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  <a:latin typeface="微软雅黑"/>
              </a:rPr>
              <a:t>PRCP 经营闭环：预算 · FTP · 考核 · ALCO 联动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软雅黑"/>
              </a:rPr>
              <a:t>PRCP 反算结果 → 预算分解 → FTP 定价 → 业务考核 → ALCO 驾驶舱 → 反馈到 PRCP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65760" y="0"/>
            <a:ext cx="11091672" cy="658368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6629400"/>
            <a:ext cx="73152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微软雅黑"/>
              </a:rPr>
              <a:t>数据来源：PRCP 业务模块需求说明书 · 数据库设计_v2.md · 产品原型设计_v2.md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9400"/>
            <a:ext cx="164592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800" b="0">
                <a:solidFill>
                  <a:srgbClr val="595959"/>
                </a:solidFill>
                <a:latin typeface="微软雅黑"/>
              </a:rPr>
              <a:t>P 006 / 006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286000"/>
            <a:ext cx="3931920" cy="228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42316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PRCP 反算引擎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926080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核心枢纽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39319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CVXPY QP/LP 求解
多目标加权
24 月预测 + 4 情景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828800"/>
            <a:ext cx="3657600" cy="1828800"/>
          </a:xfrm>
          <a:prstGeom prst="roundRect">
            <a:avLst/>
          </a:prstGeom>
          <a:solidFill>
            <a:srgbClr val="7032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1168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预算管理衔接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0604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PRCP 预测 → 规模指标
自上而下分解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657600" cy="18288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01168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FTP 动态联动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60604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预测 → 收益率曲线
引导基层定价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0"/>
            <a:ext cx="3657600" cy="1828800"/>
          </a:xfrm>
          <a:prstGeom prst="round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偏差监控考核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实际 vs 预测
归因分析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572000"/>
            <a:ext cx="3657600" cy="18288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75488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ALCO 驾驶舱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34924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微软雅黑"/>
              </a:rPr>
              <a:t>LCR/NSFR 实时监控
分钟级预警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-91440" y="0"/>
            <a:ext cx="4206240" cy="274320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-91440" y="0"/>
            <a:ext cx="4206240" cy="411480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-91440" y="0"/>
            <a:ext cx="8229600" cy="274320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-91440" y="0"/>
            <a:ext cx="8229600" cy="4114800"/>
          </a:xfrm>
          <a:prstGeom prst="line">
            <a:avLst/>
          </a:prstGeom>
          <a:ln w="381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89320"/>
            <a:ext cx="113385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微软雅黑"/>
              </a:rPr>
              <a:t>✓ PRCP 反算结果驱动预算 → FTP → 考核 → ALCO 闭环 → 反馈 PRCP 参数调整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63640"/>
            <a:ext cx="113385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微软雅黑"/>
              </a:rPr>
              <a:t>价值闭环：从"预测更准"走向"经营更优"，实现"模型-业务-决策"联动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